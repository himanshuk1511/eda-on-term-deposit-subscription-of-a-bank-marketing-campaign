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7" r:id="rId2"/>
    <p:sldId id="264" r:id="rId3"/>
    <p:sldId id="290" r:id="rId4"/>
    <p:sldId id="268" r:id="rId5"/>
    <p:sldId id="273" r:id="rId6"/>
    <p:sldId id="274" r:id="rId7"/>
    <p:sldId id="275" r:id="rId8"/>
    <p:sldId id="276" r:id="rId9"/>
    <p:sldId id="277" r:id="rId10"/>
    <p:sldId id="278" r:id="rId11"/>
    <p:sldId id="279" r:id="rId12"/>
    <p:sldId id="280" r:id="rId13"/>
    <p:sldId id="281" r:id="rId14"/>
    <p:sldId id="282" r:id="rId15"/>
    <p:sldId id="269" r:id="rId16"/>
    <p:sldId id="284" r:id="rId17"/>
    <p:sldId id="283" r:id="rId18"/>
    <p:sldId id="285" r:id="rId19"/>
    <p:sldId id="286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4F7"/>
    <a:srgbClr val="010626"/>
    <a:srgbClr val="1D8086"/>
    <a:srgbClr val="4F81BD"/>
    <a:srgbClr val="DCE2EB"/>
    <a:srgbClr val="F5F7F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529" autoAdjust="0"/>
    <p:restoredTop sz="93969" autoAdjust="0"/>
  </p:normalViewPr>
  <p:slideViewPr>
    <p:cSldViewPr snapToGrid="0" snapToObjects="1">
      <p:cViewPr varScale="1">
        <p:scale>
          <a:sx n="69" d="100"/>
          <a:sy n="69" d="100"/>
        </p:scale>
        <p:origin x="636" y="60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7FF8117-3415-447E-A081-0BFCCF35FB85}" type="datetimeFigureOut">
              <a:rPr lang="en-IN" smtClean="0"/>
              <a:t>16-02-2026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9ADB24C-E16E-4391-9F7F-7E59977BBCC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253287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FABAF0-60EB-4895-4BD8-C2BF8F1740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272A3C6-1E3E-FBA6-A9E5-AA47D0C4415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283F6F3-A1C1-7CEC-66DF-E342F4943B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A89123-2E0B-CBB0-DC55-BC0281B7203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ADB24C-E16E-4391-9F7F-7E59977BBCCA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3560551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008EC0-FB39-A5AB-E936-BA2195B620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BCDC431-6055-8CB9-41B9-3AF2D6E5790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E6EE352-6252-26D3-8FF5-B4E1A7CA76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A65C60-CD3D-8CE0-EA20-62B736B9B57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ADB24C-E16E-4391-9F7F-7E59977BBCCA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9703139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8F6C3A-DD0E-3CF8-D552-A01801AAE4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2BDAF63-4DAF-477B-1F6B-480BEBFA7AC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C52E6D7-6387-46EA-976B-0C772A4C567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F3E0BE-96D6-0243-1F54-17848EB0DC5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ADB24C-E16E-4391-9F7F-7E59977BBCCA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5788972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2DC27D-8EBE-EB24-F70A-423A3B2F94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44BF260-ED78-1C05-A1CD-C4581DA50AB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1BC2799-D7B3-8332-71DD-0B61850840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40191C-EF38-BB31-8531-460F8C4BBD7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ADB24C-E16E-4391-9F7F-7E59977BBCCA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1993434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61561E-19DE-0EFC-99F2-6382BC13DB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9E6D690-E241-3BBF-1CF8-B2BF2752798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E13258C-B1A9-18EA-8350-6F81586BC88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EC61DF-DF50-15ED-1CB9-0DE7F4BFE96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ADB24C-E16E-4391-9F7F-7E59977BBCCA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0860858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F6EAC1-1B92-5617-BDFE-98EF20D02E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435A4A0-F150-F4AB-096F-F10577F0EDC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EA42B66-DD23-BF38-DEF9-21FA62F65C6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1BC5E1-6505-5B9C-FF48-936BE8A67AC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ADB24C-E16E-4391-9F7F-7E59977BBCCA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1105398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871132-CC85-48AE-C74A-18B7FEF89C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0F8484E-AB9E-27FD-828B-E14B07C4394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2F41EF2-0951-C494-BBC0-EBB4EE880E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1A2202-C671-5504-62C0-B93A8E9287F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ADB24C-E16E-4391-9F7F-7E59977BBCCA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2171697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61AC3E-A161-E7AD-8891-F70F8A3076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1005006-AFA5-22FF-67D3-40D211AD4A8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1CB8762-2171-9A63-C01F-67148ED9AEC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87533E-9DDB-91BD-817C-2A2844D5FC3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ADB24C-E16E-4391-9F7F-7E59977BBCCA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424947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0E5812-293C-8C21-1A15-F9180FA88A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ED2124F-F4A6-B572-670C-3D0A854A139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20FF29C-A508-CC29-DC3F-9C3472E4717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A1B359-EB1B-0E71-8D5F-9072B03880D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ADB24C-E16E-4391-9F7F-7E59977BBCCA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5467143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EF8875-F44C-B9EF-CD64-BA6D3C0752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9105C85-EA3A-E7A7-6634-2E2DA77163F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F61AF34-CA29-E219-693A-36C845C1598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08A291-F3A0-2E6E-8A6F-11A6D719673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ADB24C-E16E-4391-9F7F-7E59977BBCCA}" type="slidenum">
              <a:rPr lang="en-IN" smtClean="0"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0816275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95B18F-7330-FEDF-F834-F5155B0E59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760A481-5C9F-2657-DC99-D90BACF2CDD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1C6A5BC-7B01-98F0-4E87-98E4380779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872084-3F85-3D18-71EE-C4BFD32DE0C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ADB24C-E16E-4391-9F7F-7E59977BBCCA}" type="slidenum">
              <a:rPr lang="en-IN" smtClean="0"/>
              <a:t>12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5314760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393648-CE3F-EAFC-F28C-CF3A05BCF1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29FCCB8-60CC-DE28-BB32-2B861760E48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EABF018-180C-FA3E-8006-15018F47A4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4E5B89-CB8E-3917-DE06-99B1E8793C0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ADB24C-E16E-4391-9F7F-7E59977BBCCA}" type="slidenum">
              <a:rPr lang="en-IN" smtClean="0"/>
              <a:t>13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6333514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E22891-47AE-E50E-C099-F6025394C7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05947F1-952B-B396-7BDA-8C0C2D3FFB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8F436C8-9801-7646-F5E6-8FB8861679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4E3DE3-A128-383D-4C35-AF0E4E55C45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ADB24C-E16E-4391-9F7F-7E59977BBCCA}" type="slidenum">
              <a:rPr lang="en-IN" smtClean="0"/>
              <a:t>14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5855826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CD11FC-BEC0-050A-A493-4758E78115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BD85F31-AE2C-8AE5-62EA-19369297F8B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3174D0F-1714-BDEB-245D-46E83D8A62B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172FB2-831C-2FD6-DB17-D7434809249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ADB24C-E16E-4391-9F7F-7E59977BBCCA}" type="slidenum">
              <a:rPr lang="en-IN" smtClean="0"/>
              <a:t>15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8413303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88D1E1-EC78-5EC7-846F-3F16D1E122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C8B320F-902D-2F32-B130-A41D8D4364F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EF7BA6F-569E-5C7D-1C1D-BBAA5BA7D79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7301D2-A578-0FEF-EF37-3AE1A369C8D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ADB24C-E16E-4391-9F7F-7E59977BBCCA}" type="slidenum">
              <a:rPr lang="en-IN" smtClean="0"/>
              <a:t>16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5108233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62B17D-F051-E1BB-766D-78A67AB638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83DCF55-9177-A0AB-9C94-8AF841D9810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2CE8FA5-A26B-4B62-0F28-EFCB844B125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9CBD5A-0703-BD29-D17B-728DDEE01DA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ADB24C-E16E-4391-9F7F-7E59977BBCCA}" type="slidenum">
              <a:rPr lang="en-IN" smtClean="0"/>
              <a:t>17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4252285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4B4F82-6A37-2177-FA49-E7AC95C075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C36872E-9FAB-C54B-6EAB-10883E92DE1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6965488-200C-3E81-0D82-5C5D1FDC9DD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66884C-1DD4-1699-D9FF-21815DD2E72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ADB24C-E16E-4391-9F7F-7E59977BBCCA}" type="slidenum">
              <a:rPr lang="en-IN" smtClean="0"/>
              <a:t>18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4516293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A760A2-B86F-0142-69AF-E3C0F87E7A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6B8491A-BFBE-E560-84DD-B83FB11D6B3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341E0DC-AE63-EE33-A640-D7373E4D740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E617E0-4639-B723-42F2-5B69E5B6860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ADB24C-E16E-4391-9F7F-7E59977BBCCA}" type="slidenum">
              <a:rPr lang="en-IN" smtClean="0"/>
              <a:t>19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013157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7" Type="http://schemas.openxmlformats.org/officeDocument/2006/relationships/image" Target="../media/image7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0.sv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2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E48DDC1-7B27-C04A-FCFB-426A1F5540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6CCA5F87-1D1E-45CB-8D83-FC7EEFAD99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Angled shot of pen on a graph">
            <a:extLst>
              <a:ext uri="{FF2B5EF4-FFF2-40B4-BE49-F238E27FC236}">
                <a16:creationId xmlns:a16="http://schemas.microsoft.com/office/drawing/2014/main" id="{B774CAFD-0F8B-C866-534F-8D34AD08B36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757" t="7858" r="15502"/>
          <a:stretch>
            <a:fillRect/>
          </a:stretch>
        </p:blipFill>
        <p:spPr>
          <a:xfrm>
            <a:off x="20" y="10"/>
            <a:ext cx="8668492" cy="6857990"/>
          </a:xfrm>
          <a:prstGeom prst="rect">
            <a:avLst/>
          </a:prstGeom>
          <a:solidFill>
            <a:srgbClr val="F2F4F7"/>
          </a:solidFill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7CCFC2C6-6238-4A2F-93DE-2ADF74AF63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711652" y="0"/>
            <a:ext cx="8480347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EB567C6-8583-EF73-07ED-28CE171898C9}"/>
              </a:ext>
            </a:extLst>
          </p:cNvPr>
          <p:cNvSpPr txBox="1"/>
          <p:nvPr/>
        </p:nvSpPr>
        <p:spPr>
          <a:xfrm>
            <a:off x="7326421" y="1184434"/>
            <a:ext cx="4418215" cy="223017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algn="ctr"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6000" b="1" dirty="0">
                <a:latin typeface="+mj-lt"/>
                <a:ea typeface="+mj-ea"/>
                <a:cs typeface="+mj-cs"/>
              </a:rPr>
              <a:t>Banking </a:t>
            </a:r>
          </a:p>
          <a:p>
            <a:pPr algn="ctr"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6000" b="1" dirty="0">
                <a:latin typeface="+mj-lt"/>
                <a:ea typeface="+mj-ea"/>
                <a:cs typeface="+mj-cs"/>
              </a:rPr>
              <a:t>Case Project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8130540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51648" y="4546920"/>
            <a:ext cx="402336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B00C609-51A1-AE69-525F-330A7ADED0EE}"/>
              </a:ext>
            </a:extLst>
          </p:cNvPr>
          <p:cNvSpPr txBox="1"/>
          <p:nvPr/>
        </p:nvSpPr>
        <p:spPr>
          <a:xfrm>
            <a:off x="7401653" y="4572271"/>
            <a:ext cx="4790348" cy="4801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2800" b="1" dirty="0">
                <a:latin typeface="+mj-lt"/>
                <a:ea typeface="+mj-ea"/>
                <a:cs typeface="+mj-cs"/>
              </a:rPr>
              <a:t>Prepared by : Himanshu Kumar</a:t>
            </a:r>
          </a:p>
        </p:txBody>
      </p:sp>
    </p:spTree>
    <p:extLst>
      <p:ext uri="{BB962C8B-B14F-4D97-AF65-F5344CB8AC3E}">
        <p14:creationId xmlns:p14="http://schemas.microsoft.com/office/powerpoint/2010/main" val="184887660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97ACF1F-B498-1B04-6378-8F7D26B6100A}"/>
              </a:ext>
            </a:extLst>
          </p:cNvPr>
          <p:cNvSpPr txBox="1"/>
          <p:nvPr/>
        </p:nvSpPr>
        <p:spPr>
          <a:xfrm>
            <a:off x="642292" y="447311"/>
            <a:ext cx="7670690" cy="9848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4000" b="1" dirty="0">
                <a:solidFill>
                  <a:schemeClr val="tx2"/>
                </a:solidFill>
                <a:latin typeface="+mj-lt"/>
                <a:cs typeface="Segoe UI" panose="020B0502040204020203" pitchFamily="34" charset="0"/>
              </a:rPr>
              <a:t>Bank Marketing Campaign Analysis</a:t>
            </a:r>
          </a:p>
          <a:p>
            <a:endParaRPr lang="en-IN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415ECB3-7B81-79DB-7070-55A41D826F38}"/>
              </a:ext>
            </a:extLst>
          </p:cNvPr>
          <p:cNvCxnSpPr>
            <a:cxnSpLocks/>
          </p:cNvCxnSpPr>
          <p:nvPr/>
        </p:nvCxnSpPr>
        <p:spPr>
          <a:xfrm>
            <a:off x="370764" y="1601559"/>
            <a:ext cx="11336463" cy="0"/>
          </a:xfrm>
          <a:prstGeom prst="line">
            <a:avLst/>
          </a:prstGeom>
          <a:ln w="28575">
            <a:solidFill>
              <a:srgbClr val="1D80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FFB9AC35-BA3B-945B-1E5D-CFBA42ACD877}"/>
              </a:ext>
            </a:extLst>
          </p:cNvPr>
          <p:cNvSpPr/>
          <p:nvPr/>
        </p:nvSpPr>
        <p:spPr>
          <a:xfrm>
            <a:off x="4183112" y="1898822"/>
            <a:ext cx="3825776" cy="3903257"/>
          </a:xfrm>
          <a:prstGeom prst="roundRect">
            <a:avLst/>
          </a:prstGeom>
          <a:gradFill>
            <a:gsLst>
              <a:gs pos="0">
                <a:srgbClr val="DCE2EB"/>
              </a:gs>
              <a:gs pos="100000">
                <a:srgbClr val="F5F7FA">
                  <a:alpha val="0"/>
                </a:srgbClr>
              </a:gs>
            </a:gsLst>
            <a:lin ang="54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30" name="Graphic 29" descr="Bullseye with solid fill">
            <a:extLst>
              <a:ext uri="{FF2B5EF4-FFF2-40B4-BE49-F238E27FC236}">
                <a16:creationId xmlns:a16="http://schemas.microsoft.com/office/drawing/2014/main" id="{113FB441-F053-B637-9ADD-7907EA9AEBA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00124" y="2033244"/>
            <a:ext cx="485244" cy="485244"/>
          </a:xfrm>
          <a:prstGeom prst="rect">
            <a:avLst/>
          </a:prstGeom>
        </p:spPr>
      </p:pic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B25A9C20-4DF2-109D-EF29-AEC23B22F76B}"/>
              </a:ext>
            </a:extLst>
          </p:cNvPr>
          <p:cNvSpPr/>
          <p:nvPr/>
        </p:nvSpPr>
        <p:spPr>
          <a:xfrm>
            <a:off x="166473" y="1885172"/>
            <a:ext cx="3825776" cy="3903257"/>
          </a:xfrm>
          <a:prstGeom prst="roundRect">
            <a:avLst/>
          </a:prstGeom>
          <a:gradFill>
            <a:gsLst>
              <a:gs pos="0">
                <a:srgbClr val="DCE2EB"/>
              </a:gs>
              <a:gs pos="100000">
                <a:srgbClr val="F5F7FA">
                  <a:alpha val="0"/>
                </a:srgbClr>
              </a:gs>
            </a:gsLst>
            <a:lin ang="54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A662FE75-18C2-A825-763F-09DE2615F242}"/>
              </a:ext>
            </a:extLst>
          </p:cNvPr>
          <p:cNvSpPr/>
          <p:nvPr/>
        </p:nvSpPr>
        <p:spPr>
          <a:xfrm>
            <a:off x="8199752" y="1885170"/>
            <a:ext cx="3825775" cy="3903257"/>
          </a:xfrm>
          <a:prstGeom prst="roundRect">
            <a:avLst/>
          </a:prstGeom>
          <a:gradFill>
            <a:gsLst>
              <a:gs pos="0">
                <a:srgbClr val="DCE2EB"/>
              </a:gs>
              <a:gs pos="100000">
                <a:srgbClr val="F5F7FA">
                  <a:alpha val="0"/>
                </a:srgbClr>
              </a:gs>
            </a:gsLst>
            <a:lin ang="54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28" name="Graphic 27" descr="Pin with solid fill">
            <a:extLst>
              <a:ext uri="{FF2B5EF4-FFF2-40B4-BE49-F238E27FC236}">
                <a16:creationId xmlns:a16="http://schemas.microsoft.com/office/drawing/2014/main" id="{8F3DAF3C-5506-5A22-ABC8-27DE8FB54F2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75044" y="2033244"/>
            <a:ext cx="485244" cy="485244"/>
          </a:xfrm>
          <a:prstGeom prst="rect">
            <a:avLst/>
          </a:prstGeom>
        </p:spPr>
      </p:pic>
      <p:pic>
        <p:nvPicPr>
          <p:cNvPr id="41" name="Graphic 40" descr="Bar graph with upward trend with solid fill">
            <a:extLst>
              <a:ext uri="{FF2B5EF4-FFF2-40B4-BE49-F238E27FC236}">
                <a16:creationId xmlns:a16="http://schemas.microsoft.com/office/drawing/2014/main" id="{0C2643AF-EA74-D2D8-F136-D6B8C1A0247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462176" y="2033244"/>
            <a:ext cx="485244" cy="485244"/>
          </a:xfrm>
          <a:prstGeom prst="rect">
            <a:avLst/>
          </a:prstGeom>
        </p:spPr>
      </p:pic>
      <p:sp>
        <p:nvSpPr>
          <p:cNvPr id="45" name="TextBox 44">
            <a:extLst>
              <a:ext uri="{FF2B5EF4-FFF2-40B4-BE49-F238E27FC236}">
                <a16:creationId xmlns:a16="http://schemas.microsoft.com/office/drawing/2014/main" id="{B02BF51A-50A8-9F2B-CF79-105F3EB35177}"/>
              </a:ext>
            </a:extLst>
          </p:cNvPr>
          <p:cNvSpPr txBox="1"/>
          <p:nvPr/>
        </p:nvSpPr>
        <p:spPr>
          <a:xfrm>
            <a:off x="717666" y="1069573"/>
            <a:ext cx="4684680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dirty="0">
                <a:solidFill>
                  <a:srgbClr val="1D8086"/>
                </a:solidFill>
                <a:latin typeface="Calibri"/>
              </a:rPr>
              <a:t>Term Deposit Subscription Study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C52DD30-BD97-EAC5-869A-530B71B5DCB8}"/>
              </a:ext>
            </a:extLst>
          </p:cNvPr>
          <p:cNvSpPr txBox="1"/>
          <p:nvPr/>
        </p:nvSpPr>
        <p:spPr>
          <a:xfrm>
            <a:off x="462514" y="2033244"/>
            <a:ext cx="3313124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203F60"/>
                </a:solidFill>
                <a:latin typeface="Calibri"/>
              </a:defRPr>
            </a:pPr>
            <a:r>
              <a:rPr lang="en-GB" sz="2400" dirty="0"/>
              <a:t>Background</a:t>
            </a:r>
          </a:p>
          <a:p>
            <a:pPr algn="ctr">
              <a:defRPr sz="2000" b="1">
                <a:solidFill>
                  <a:srgbClr val="203F60"/>
                </a:solidFill>
                <a:latin typeface="Calibri"/>
              </a:defRPr>
            </a:pPr>
            <a:endParaRPr lang="en-GB" sz="2000" dirty="0"/>
          </a:p>
          <a:p>
            <a:pPr marL="342900" indent="-342900">
              <a:buFont typeface="Arial" panose="020B0604020202020204" pitchFamily="34" charset="0"/>
              <a:buChar char="•"/>
              <a:defRPr sz="1400">
                <a:solidFill>
                  <a:srgbClr val="464646"/>
                </a:solidFill>
                <a:latin typeface="Calibri"/>
              </a:defRPr>
            </a:pP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This project analyses a real-world banking dataset related to telephonic marketing campaigns conducted by a Portuguese bank.</a:t>
            </a:r>
          </a:p>
          <a:p>
            <a:pPr marL="342900" indent="-342900">
              <a:buFont typeface="Arial" panose="020B0604020202020204" pitchFamily="34" charset="0"/>
              <a:buChar char="•"/>
              <a:defRPr sz="1400">
                <a:solidFill>
                  <a:srgbClr val="464646"/>
                </a:solidFill>
                <a:latin typeface="Calibri"/>
              </a:defRPr>
            </a:pPr>
            <a:endParaRPr lang="en-GB" sz="2000" dirty="0">
              <a:solidFill>
                <a:schemeClr val="tx1">
                  <a:lumMod val="95000"/>
                  <a:lumOff val="5000"/>
                </a:schemeClr>
              </a:solidFill>
              <a:latin typeface="Calibri"/>
            </a:endParaRPr>
          </a:p>
          <a:p>
            <a:pPr marL="342900" indent="-342900">
              <a:buFont typeface="Arial" panose="020B0604020202020204" pitchFamily="34" charset="0"/>
              <a:buChar char="•"/>
              <a:defRPr sz="1400">
                <a:solidFill>
                  <a:srgbClr val="464646"/>
                </a:solidFill>
                <a:latin typeface="Calibri"/>
              </a:defRPr>
            </a:pP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The campaigns aimed to promote term deposit subscriptions among customers.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579ACFA-27BE-DEA2-0F75-080C22FE2D10}"/>
              </a:ext>
            </a:extLst>
          </p:cNvPr>
          <p:cNvSpPr txBox="1"/>
          <p:nvPr/>
        </p:nvSpPr>
        <p:spPr>
          <a:xfrm>
            <a:off x="4615105" y="1997726"/>
            <a:ext cx="3008189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203F60"/>
                </a:solidFill>
                <a:latin typeface="Calibri"/>
              </a:defRPr>
            </a:pPr>
            <a:r>
              <a:rPr lang="en-GB" sz="2400" dirty="0"/>
              <a:t>Objective of the </a:t>
            </a:r>
          </a:p>
          <a:p>
            <a:pPr algn="ctr">
              <a:defRPr sz="2000" b="1">
                <a:solidFill>
                  <a:srgbClr val="203F60"/>
                </a:solidFill>
                <a:latin typeface="Calibri"/>
              </a:defRPr>
            </a:pPr>
            <a:r>
              <a:rPr lang="en-GB" sz="2400" dirty="0"/>
              <a:t>Project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3CBD1CC-351F-E71D-F998-E81394351121}"/>
              </a:ext>
            </a:extLst>
          </p:cNvPr>
          <p:cNvSpPr txBox="1"/>
          <p:nvPr/>
        </p:nvSpPr>
        <p:spPr>
          <a:xfrm>
            <a:off x="4248574" y="2693501"/>
            <a:ext cx="3532385" cy="4093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  <a:defRPr sz="1400">
                <a:solidFill>
                  <a:srgbClr val="464646"/>
                </a:solidFill>
                <a:latin typeface="Calibri"/>
              </a:defRPr>
            </a:pPr>
            <a:r>
              <a:rPr lang="en-GB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Understand customer demographics and financial attributes</a:t>
            </a:r>
            <a:br>
              <a:rPr lang="en-GB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</a:br>
            <a:endParaRPr lang="en-GB" sz="20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  <a:defRPr sz="1400">
                <a:solidFill>
                  <a:srgbClr val="464646"/>
                </a:solidFill>
                <a:latin typeface="Calibri"/>
              </a:defRPr>
            </a:pPr>
            <a:r>
              <a:rPr lang="en-GB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Analyze campaign-related variables</a:t>
            </a:r>
            <a:br>
              <a:rPr lang="en-GB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</a:br>
            <a:endParaRPr lang="en-GB" sz="20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  <a:defRPr sz="1400">
                <a:solidFill>
                  <a:srgbClr val="464646"/>
                </a:solidFill>
                <a:latin typeface="Calibri"/>
              </a:defRPr>
            </a:pPr>
            <a:r>
              <a:rPr lang="en-GB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Identify patterns influencing term deposit subscription</a:t>
            </a:r>
            <a:br>
              <a:rPr lang="en-GB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</a:br>
            <a:endParaRPr lang="en-GB" sz="20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  <a:defRPr sz="1400">
                <a:solidFill>
                  <a:srgbClr val="464646"/>
                </a:solidFill>
                <a:latin typeface="Calibri"/>
              </a:defRPr>
            </a:pPr>
            <a:r>
              <a:rPr lang="en-GB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Provide data driven insights to improve targeted marketing.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C5CD0C9-04E5-DEB8-46CE-04E79EDCDBC4}"/>
              </a:ext>
            </a:extLst>
          </p:cNvPr>
          <p:cNvSpPr txBox="1"/>
          <p:nvPr/>
        </p:nvSpPr>
        <p:spPr>
          <a:xfrm>
            <a:off x="8296928" y="2012927"/>
            <a:ext cx="3825775" cy="4832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203F60"/>
                </a:solidFill>
                <a:latin typeface="Calibri"/>
              </a:defRPr>
            </a:pPr>
            <a:r>
              <a:rPr lang="en-GB" sz="2400" dirty="0"/>
              <a:t> Scope of Analysis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GB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Data cleaning &amp; preprocessing</a:t>
            </a:r>
            <a:b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</a:br>
            <a:endParaRPr kumimoji="0" lang="en-GB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Exploratory Data Analysis (EDA)</a:t>
            </a:r>
            <a:b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</a:br>
            <a:endParaRPr kumimoji="0" lang="en-GB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Distribution analysis of key variables</a:t>
            </a:r>
            <a:b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</a:br>
            <a:endParaRPr kumimoji="0" lang="en-GB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Correlation analysis with subscription outcome</a:t>
            </a:r>
            <a:b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</a:br>
            <a:endParaRPr kumimoji="0" lang="en-GB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sz="2000" dirty="0">
                <a:solidFill>
                  <a:prstClr val="black"/>
                </a:solidFill>
                <a:latin typeface="Calibri"/>
              </a:rPr>
              <a:t>Key</a:t>
            </a: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insights and recommendations.</a:t>
            </a:r>
            <a:endParaRPr kumimoji="0" lang="en-IN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algn="ctr">
              <a:defRPr sz="2000" b="1">
                <a:solidFill>
                  <a:srgbClr val="203F60"/>
                </a:solidFill>
                <a:latin typeface="Calibri"/>
              </a:defRPr>
            </a:pP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140977334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20D7EB-1C2B-F8F3-AC52-57A1C0C1B5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33AF220-C84B-1BE2-5461-4FC4430365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0"/>
            <a:ext cx="6288505" cy="68580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889B87BD-3823-0D65-26F1-2AEB2DCA4A1D}"/>
              </a:ext>
            </a:extLst>
          </p:cNvPr>
          <p:cNvSpPr/>
          <p:nvPr/>
        </p:nvSpPr>
        <p:spPr>
          <a:xfrm>
            <a:off x="-2" y="12032"/>
            <a:ext cx="9529013" cy="6858000"/>
          </a:xfrm>
          <a:prstGeom prst="rect">
            <a:avLst/>
          </a:prstGeom>
          <a:gradFill>
            <a:gsLst>
              <a:gs pos="7000">
                <a:srgbClr val="F2F4F7">
                  <a:alpha val="0"/>
                </a:srgbClr>
              </a:gs>
              <a:gs pos="66000">
                <a:srgbClr val="F2F4F7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F5D2644-E4C6-242E-EC6A-74E4CE6F2845}"/>
              </a:ext>
            </a:extLst>
          </p:cNvPr>
          <p:cNvSpPr txBox="1"/>
          <p:nvPr/>
        </p:nvSpPr>
        <p:spPr>
          <a:xfrm>
            <a:off x="7230575" y="318802"/>
            <a:ext cx="4512246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4000" b="1" dirty="0">
                <a:solidFill>
                  <a:schemeClr val="tx2"/>
                </a:solidFill>
                <a:latin typeface="+mj-lt"/>
              </a:rPr>
              <a:t>Dataset Overview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0FAF9B8-C5F0-6E04-E3B6-9D9D36590D92}"/>
              </a:ext>
            </a:extLst>
          </p:cNvPr>
          <p:cNvSpPr txBox="1"/>
          <p:nvPr/>
        </p:nvSpPr>
        <p:spPr>
          <a:xfrm>
            <a:off x="6096000" y="1040676"/>
            <a:ext cx="6096000" cy="44935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endParaRPr lang="en-IN" b="1" dirty="0">
              <a:latin typeface="+mj-lt"/>
            </a:endParaRPr>
          </a:p>
          <a:p>
            <a:pPr>
              <a:buNone/>
            </a:pPr>
            <a:r>
              <a:rPr lang="en-IN" sz="2400" b="1" dirty="0">
                <a:solidFill>
                  <a:schemeClr val="tx2"/>
                </a:solidFill>
              </a:rPr>
              <a:t>Dataset Summary</a:t>
            </a:r>
          </a:p>
          <a:p>
            <a:pPr>
              <a:buNone/>
            </a:pPr>
            <a:endParaRPr lang="en-IN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/>
              <a:t>Total Records: </a:t>
            </a:r>
            <a:r>
              <a:rPr lang="en-IN" sz="2000" b="1" dirty="0"/>
              <a:t>45,211</a:t>
            </a:r>
            <a:endParaRPr lang="en-IN" sz="2000" dirty="0"/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/>
              <a:t>Total Features: </a:t>
            </a:r>
            <a:r>
              <a:rPr lang="en-IN" sz="2000" b="1" dirty="0"/>
              <a:t>17</a:t>
            </a:r>
            <a:endParaRPr lang="en-IN" sz="2000" dirty="0"/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/>
              <a:t>Target Variable: </a:t>
            </a:r>
            <a:r>
              <a:rPr lang="en-IN" sz="2000" b="1" dirty="0"/>
              <a:t>y (Term Deposit Subscription)</a:t>
            </a:r>
            <a:endParaRPr lang="en-IN" sz="2000" dirty="0"/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/>
              <a:t>Time Period: May 2008 – Nov 2010</a:t>
            </a:r>
          </a:p>
          <a:p>
            <a:pPr>
              <a:buNone/>
            </a:pPr>
            <a:endParaRPr lang="en-IN" sz="2400" b="1" dirty="0"/>
          </a:p>
          <a:p>
            <a:pPr>
              <a:buNone/>
            </a:pPr>
            <a:r>
              <a:rPr lang="en-IN" sz="2400" b="1" dirty="0">
                <a:solidFill>
                  <a:schemeClr val="tx2"/>
                </a:solidFill>
              </a:rPr>
              <a:t>Data Preparation Steps</a:t>
            </a:r>
          </a:p>
          <a:p>
            <a:pPr>
              <a:buFont typeface="Arial" panose="020B0604020202020204" pitchFamily="34" charset="0"/>
              <a:buChar char="•"/>
            </a:pPr>
            <a:endParaRPr lang="en-IN" dirty="0"/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/>
              <a:t>Removed 5 duplicate rows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/>
              <a:t>Dropped redundant columns (marital, day_month)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/>
              <a:t>Encoded binary variables (yes/no → 1/0)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/>
              <a:t>Imputed missing values using mode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ED5A1C1-FB22-311E-5FA8-13865BA5D6D7}"/>
              </a:ext>
            </a:extLst>
          </p:cNvPr>
          <p:cNvSpPr txBox="1"/>
          <p:nvPr/>
        </p:nvSpPr>
        <p:spPr>
          <a:xfrm>
            <a:off x="6096000" y="5802187"/>
            <a:ext cx="57912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GB" sz="2000" dirty="0"/>
              <a:t>In this dataset ‘Unknown’ is a defined category 	and must be kept, not treated as missing.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170897468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F30D21-471A-C52D-921A-BA7E9CDCD5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DFAA0A6-136F-2A7D-A989-B4BEE7864579}"/>
              </a:ext>
            </a:extLst>
          </p:cNvPr>
          <p:cNvSpPr txBox="1"/>
          <p:nvPr/>
        </p:nvSpPr>
        <p:spPr>
          <a:xfrm>
            <a:off x="255327" y="1997839"/>
            <a:ext cx="4753402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sz="2400" b="1" dirty="0">
                <a:solidFill>
                  <a:schemeClr val="tx2"/>
                </a:solidFill>
                <a:latin typeface="+mj-lt"/>
              </a:rPr>
              <a:t>Key Insights: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2000" dirty="0"/>
              <a:t>Average age: </a:t>
            </a:r>
            <a:r>
              <a:rPr lang="en-GB" sz="2000" b="1" dirty="0"/>
              <a:t>40.9 years</a:t>
            </a:r>
            <a:endParaRPr lang="en-GB" sz="2000" dirty="0"/>
          </a:p>
          <a:p>
            <a:pPr>
              <a:buFont typeface="Arial" panose="020B0604020202020204" pitchFamily="34" charset="0"/>
              <a:buChar char="•"/>
            </a:pPr>
            <a:r>
              <a:rPr lang="en-GB" sz="2000" dirty="0"/>
              <a:t>Majority between </a:t>
            </a:r>
            <a:r>
              <a:rPr lang="en-GB" sz="2000" b="1" dirty="0"/>
              <a:t>30–50 years</a:t>
            </a:r>
            <a:endParaRPr lang="en-GB" sz="2000" dirty="0"/>
          </a:p>
          <a:p>
            <a:pPr>
              <a:buFont typeface="Arial" panose="020B0604020202020204" pitchFamily="34" charset="0"/>
              <a:buChar char="•"/>
            </a:pPr>
            <a:r>
              <a:rPr lang="en-GB" sz="2000" dirty="0"/>
              <a:t>Slight right skew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2000" dirty="0"/>
              <a:t>Few elderly outliers (up to 95 years)</a:t>
            </a:r>
          </a:p>
          <a:p>
            <a:pPr>
              <a:buNone/>
            </a:pPr>
            <a:endParaRPr lang="en-GB" sz="2400" b="1" dirty="0">
              <a:solidFill>
                <a:schemeClr val="tx2"/>
              </a:solidFill>
            </a:endParaRPr>
          </a:p>
          <a:p>
            <a:pPr>
              <a:buNone/>
            </a:pPr>
            <a:r>
              <a:rPr lang="en-GB" sz="2400" b="1" dirty="0">
                <a:solidFill>
                  <a:schemeClr val="tx2"/>
                </a:solidFill>
                <a:latin typeface="+mj-lt"/>
              </a:rPr>
              <a:t>Key Observation: </a:t>
            </a:r>
          </a:p>
          <a:p>
            <a:pPr>
              <a:buNone/>
            </a:pPr>
            <a:r>
              <a:rPr lang="en-GB" sz="2000" dirty="0"/>
              <a:t>Middle-aged customers form the primary customer base.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C14AAA3-D5C2-703C-C966-CE3653268D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36992" y="1794681"/>
            <a:ext cx="7055008" cy="506331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5502CFA2-3044-78DF-3300-F8616567EC3A}"/>
              </a:ext>
            </a:extLst>
          </p:cNvPr>
          <p:cNvSpPr txBox="1"/>
          <p:nvPr/>
        </p:nvSpPr>
        <p:spPr>
          <a:xfrm>
            <a:off x="2456597" y="230326"/>
            <a:ext cx="600046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sz="4000" b="1" dirty="0">
                <a:solidFill>
                  <a:schemeClr val="tx2"/>
                </a:solidFill>
                <a:latin typeface="+mj-lt"/>
              </a:rPr>
              <a:t>Customer Age Distribution</a:t>
            </a:r>
          </a:p>
        </p:txBody>
      </p:sp>
    </p:spTree>
    <p:extLst>
      <p:ext uri="{BB962C8B-B14F-4D97-AF65-F5344CB8AC3E}">
        <p14:creationId xmlns:p14="http://schemas.microsoft.com/office/powerpoint/2010/main" val="281636076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0B67F1-9118-E96C-14B0-4A7142610A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AA2B7D2-9C08-557C-5171-20FC43A2A8C6}"/>
              </a:ext>
            </a:extLst>
          </p:cNvPr>
          <p:cNvSpPr txBox="1"/>
          <p:nvPr/>
        </p:nvSpPr>
        <p:spPr>
          <a:xfrm>
            <a:off x="207243" y="1561745"/>
            <a:ext cx="4733247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sz="2400" b="1" dirty="0">
                <a:solidFill>
                  <a:schemeClr val="tx2"/>
                </a:solidFill>
                <a:latin typeface="+mj-lt"/>
              </a:rPr>
              <a:t>Key Insights: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2000" dirty="0"/>
              <a:t>Management and technician segments show higher subscription counts.</a:t>
            </a:r>
          </a:p>
          <a:p>
            <a:endParaRPr lang="en-GB" sz="2000" dirty="0"/>
          </a:p>
          <a:p>
            <a:r>
              <a:rPr lang="en-GB" sz="2000" dirty="0"/>
              <a:t>Most common jobs: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2000" dirty="0"/>
              <a:t>Blue-collar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2000" dirty="0"/>
              <a:t>Management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2000" dirty="0"/>
              <a:t>Technician</a:t>
            </a:r>
          </a:p>
          <a:p>
            <a:pPr>
              <a:buFont typeface="Arial" panose="020B0604020202020204" pitchFamily="34" charset="0"/>
              <a:buChar char="•"/>
            </a:pPr>
            <a:endParaRPr lang="en-GB" sz="2000" dirty="0"/>
          </a:p>
          <a:p>
            <a:pPr>
              <a:buFont typeface="Arial" panose="020B0604020202020204" pitchFamily="34" charset="0"/>
              <a:buChar char="•"/>
            </a:pPr>
            <a:r>
              <a:rPr lang="en-GB" sz="2000" dirty="0"/>
              <a:t>Blue-collar segment has high volume but lower conversion ratio.</a:t>
            </a:r>
          </a:p>
          <a:p>
            <a:pPr>
              <a:buNone/>
            </a:pPr>
            <a:endParaRPr lang="en-GB" b="1" dirty="0"/>
          </a:p>
          <a:p>
            <a:pPr>
              <a:buNone/>
            </a:pPr>
            <a:endParaRPr lang="en-GB" b="1" dirty="0"/>
          </a:p>
          <a:p>
            <a:pPr>
              <a:buNone/>
            </a:pPr>
            <a:r>
              <a:rPr lang="en-GB" sz="2400" b="1" dirty="0">
                <a:solidFill>
                  <a:schemeClr val="tx2"/>
                </a:solidFill>
                <a:latin typeface="+mj-lt"/>
              </a:rPr>
              <a:t>Key Observation:</a:t>
            </a:r>
          </a:p>
          <a:p>
            <a:pPr>
              <a:buNone/>
            </a:pPr>
            <a:r>
              <a:rPr lang="en-GB" sz="2000" dirty="0"/>
              <a:t>Focus on professional and retired segments for higher campaign efficiency.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D0A3C7F-A19A-F2E6-1664-6D85ED49ED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4460" y="1259175"/>
            <a:ext cx="7527540" cy="411804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BD7953F-1465-D53F-8411-EFB1995908D5}"/>
              </a:ext>
            </a:extLst>
          </p:cNvPr>
          <p:cNvSpPr txBox="1"/>
          <p:nvPr/>
        </p:nvSpPr>
        <p:spPr>
          <a:xfrm>
            <a:off x="3548560" y="217942"/>
            <a:ext cx="5094879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sz="4000" b="1" dirty="0">
                <a:solidFill>
                  <a:schemeClr val="tx2"/>
                </a:solidFill>
                <a:latin typeface="+mj-lt"/>
              </a:rPr>
              <a:t>Job Type Distribution</a:t>
            </a:r>
          </a:p>
        </p:txBody>
      </p:sp>
    </p:spTree>
    <p:extLst>
      <p:ext uri="{BB962C8B-B14F-4D97-AF65-F5344CB8AC3E}">
        <p14:creationId xmlns:p14="http://schemas.microsoft.com/office/powerpoint/2010/main" val="9192446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4B448A-FCF7-FEE5-4102-295207F7E6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E80379EC-2A98-0FDD-7189-DC060362CACB}"/>
              </a:ext>
            </a:extLst>
          </p:cNvPr>
          <p:cNvSpPr txBox="1"/>
          <p:nvPr/>
        </p:nvSpPr>
        <p:spPr>
          <a:xfrm>
            <a:off x="1921398" y="233892"/>
            <a:ext cx="834920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000" b="1" dirty="0">
                <a:solidFill>
                  <a:schemeClr val="tx2"/>
                </a:solidFill>
                <a:latin typeface="+mj-lt"/>
              </a:rPr>
              <a:t>Marital Status &amp; Education Profile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59BB2E7-DBE8-20A9-52C7-B95DAB5DCC6B}"/>
              </a:ext>
            </a:extLst>
          </p:cNvPr>
          <p:cNvSpPr txBox="1"/>
          <p:nvPr/>
        </p:nvSpPr>
        <p:spPr>
          <a:xfrm>
            <a:off x="320842" y="989303"/>
            <a:ext cx="5710989" cy="2369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sz="2400" b="1" dirty="0">
                <a:solidFill>
                  <a:schemeClr val="tx2"/>
                </a:solidFill>
                <a:latin typeface="+mj-lt"/>
              </a:rPr>
              <a:t>Marital Status: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2000" dirty="0"/>
              <a:t>60%+ married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2000" dirty="0"/>
              <a:t>Singles second largest group</a:t>
            </a:r>
          </a:p>
          <a:p>
            <a:pPr>
              <a:buFont typeface="Arial" panose="020B0604020202020204" pitchFamily="34" charset="0"/>
              <a:buChar char="•"/>
            </a:pPr>
            <a:endParaRPr lang="en-GB" sz="2000" dirty="0"/>
          </a:p>
          <a:p>
            <a:pPr>
              <a:buNone/>
            </a:pPr>
            <a:r>
              <a:rPr lang="en-GB" sz="2400" b="1" dirty="0">
                <a:solidFill>
                  <a:schemeClr val="tx2"/>
                </a:solidFill>
                <a:latin typeface="+mj-lt"/>
              </a:rPr>
              <a:t>Education: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2000" dirty="0"/>
              <a:t>Majority have </a:t>
            </a:r>
            <a:r>
              <a:rPr lang="en-GB" sz="2000" b="1" dirty="0"/>
              <a:t>secondary education</a:t>
            </a:r>
            <a:endParaRPr lang="en-GB" sz="2000" dirty="0"/>
          </a:p>
          <a:p>
            <a:pPr>
              <a:buFont typeface="Arial" panose="020B0604020202020204" pitchFamily="34" charset="0"/>
              <a:buChar char="•"/>
            </a:pPr>
            <a:r>
              <a:rPr lang="en-GB" sz="2000" dirty="0"/>
              <a:t>Tertiary education is significant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270FD8AC-451C-7B06-42D5-F07BDD3BD4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1009" y="1160229"/>
            <a:ext cx="5710989" cy="403793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1A12127B-5E3D-37B5-F79A-B771AF461A6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406709"/>
            <a:ext cx="5582653" cy="3451291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E4C3CEBD-E9A6-8317-D393-636D82069615}"/>
              </a:ext>
            </a:extLst>
          </p:cNvPr>
          <p:cNvSpPr txBox="1"/>
          <p:nvPr/>
        </p:nvSpPr>
        <p:spPr>
          <a:xfrm>
            <a:off x="6649452" y="5393837"/>
            <a:ext cx="5374105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sz="2400" b="1" dirty="0">
                <a:solidFill>
                  <a:schemeClr val="tx2"/>
                </a:solidFill>
                <a:latin typeface="+mj-lt"/>
              </a:rPr>
              <a:t>Key Observation</a:t>
            </a:r>
            <a:r>
              <a:rPr lang="en-GB" sz="2400" b="1" dirty="0">
                <a:solidFill>
                  <a:schemeClr val="tx2"/>
                </a:solidFill>
              </a:rPr>
              <a:t>:</a:t>
            </a:r>
          </a:p>
          <a:p>
            <a:pPr>
              <a:buNone/>
            </a:pPr>
            <a:r>
              <a:rPr lang="en-GB" sz="2000" dirty="0"/>
              <a:t>Target audience mainly married &amp; moderately educated.</a:t>
            </a:r>
          </a:p>
        </p:txBody>
      </p:sp>
    </p:spTree>
    <p:extLst>
      <p:ext uri="{BB962C8B-B14F-4D97-AF65-F5344CB8AC3E}">
        <p14:creationId xmlns:p14="http://schemas.microsoft.com/office/powerpoint/2010/main" val="89982644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B8AE25-5499-541F-3370-A823254497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E64AE85-253E-27B0-B992-CDFF48F29904}"/>
              </a:ext>
            </a:extLst>
          </p:cNvPr>
          <p:cNvSpPr txBox="1"/>
          <p:nvPr/>
        </p:nvSpPr>
        <p:spPr>
          <a:xfrm>
            <a:off x="7734013" y="2078919"/>
            <a:ext cx="4233398" cy="29854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 dirty="0">
                <a:solidFill>
                  <a:schemeClr val="tx2"/>
                </a:solidFill>
                <a:latin typeface="+mj-lt"/>
              </a:rPr>
              <a:t>Key Insights: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/>
              <a:t>Very small percentage (1.8%) in default.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/>
              <a:t>Clients with credit default rarely subscribe.</a:t>
            </a:r>
          </a:p>
          <a:p>
            <a:pPr>
              <a:buNone/>
            </a:pPr>
            <a:endParaRPr lang="en-IN" sz="2000" b="1" dirty="0"/>
          </a:p>
          <a:p>
            <a:pPr>
              <a:buNone/>
            </a:pPr>
            <a:r>
              <a:rPr lang="en-IN" sz="2400" b="1" dirty="0">
                <a:solidFill>
                  <a:schemeClr val="tx2"/>
                </a:solidFill>
                <a:latin typeface="+mj-lt"/>
              </a:rPr>
              <a:t>Key Observation:</a:t>
            </a:r>
          </a:p>
          <a:p>
            <a:pPr>
              <a:buNone/>
            </a:pPr>
            <a:r>
              <a:rPr lang="en-IN" sz="2000" dirty="0"/>
              <a:t>Low-risk customers are primary conversion drivers.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B48DAC3-82D8-70E9-15F1-C279AC1463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1558181"/>
            <a:ext cx="7218947" cy="510412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1F16837-D50F-49D2-65C4-A0F7CFADAE50}"/>
              </a:ext>
            </a:extLst>
          </p:cNvPr>
          <p:cNvSpPr txBox="1"/>
          <p:nvPr/>
        </p:nvSpPr>
        <p:spPr>
          <a:xfrm>
            <a:off x="3609472" y="489102"/>
            <a:ext cx="5710991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000" b="1" dirty="0">
                <a:solidFill>
                  <a:schemeClr val="tx2"/>
                </a:solidFill>
                <a:latin typeface="+mj-lt"/>
              </a:rPr>
              <a:t>Credit Risk Profile</a:t>
            </a:r>
          </a:p>
        </p:txBody>
      </p:sp>
    </p:spTree>
    <p:extLst>
      <p:ext uri="{BB962C8B-B14F-4D97-AF65-F5344CB8AC3E}">
        <p14:creationId xmlns:p14="http://schemas.microsoft.com/office/powerpoint/2010/main" val="344180584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6311C7-FD31-875C-110E-74F713B128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895568B-7622-CCDE-F47F-1D15F1157A80}"/>
              </a:ext>
            </a:extLst>
          </p:cNvPr>
          <p:cNvSpPr txBox="1"/>
          <p:nvPr/>
        </p:nvSpPr>
        <p:spPr>
          <a:xfrm>
            <a:off x="612679" y="1179018"/>
            <a:ext cx="3037938" cy="16927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sz="2400" b="1" dirty="0">
                <a:solidFill>
                  <a:schemeClr val="tx2"/>
                </a:solidFill>
                <a:latin typeface="+mj-lt"/>
              </a:rPr>
              <a:t>Key Insights: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2000" dirty="0"/>
              <a:t>Mean balance: </a:t>
            </a:r>
            <a:r>
              <a:rPr lang="en-GB" sz="2000" b="1" dirty="0"/>
              <a:t>€1362</a:t>
            </a:r>
            <a:endParaRPr lang="en-GB" sz="2000" dirty="0"/>
          </a:p>
          <a:p>
            <a:pPr>
              <a:buFont typeface="Arial" panose="020B0604020202020204" pitchFamily="34" charset="0"/>
              <a:buChar char="•"/>
            </a:pPr>
            <a:r>
              <a:rPr lang="en-GB" sz="2000" dirty="0"/>
              <a:t>Median: </a:t>
            </a:r>
            <a:r>
              <a:rPr lang="en-GB" sz="2000" b="1" dirty="0"/>
              <a:t>€448</a:t>
            </a:r>
            <a:endParaRPr lang="en-GB" sz="2000" dirty="0"/>
          </a:p>
          <a:p>
            <a:pPr>
              <a:buFont typeface="Arial" panose="020B0604020202020204" pitchFamily="34" charset="0"/>
              <a:buChar char="•"/>
            </a:pPr>
            <a:r>
              <a:rPr lang="en-GB" sz="2000" dirty="0"/>
              <a:t>Highly right-skewed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2000" dirty="0"/>
              <a:t>4729 balance outliers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82A54C3-8A90-736A-33FD-43BC49BC2D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87832"/>
            <a:ext cx="4844716" cy="397016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7E8664A-982D-9D26-54AD-32B0D6101BD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92238" y="1004725"/>
            <a:ext cx="6399762" cy="452492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216CD29-1A7A-52C2-1DF6-A2D592A80CD9}"/>
              </a:ext>
            </a:extLst>
          </p:cNvPr>
          <p:cNvSpPr txBox="1"/>
          <p:nvPr/>
        </p:nvSpPr>
        <p:spPr>
          <a:xfrm>
            <a:off x="1443789" y="181439"/>
            <a:ext cx="974708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000" b="1" dirty="0">
                <a:solidFill>
                  <a:schemeClr val="tx2"/>
                </a:solidFill>
                <a:latin typeface="+mj-lt"/>
              </a:rPr>
              <a:t>Financial Strength – Balance Distribution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FB7940A-BE75-A5C5-6A71-53C0239666A3}"/>
              </a:ext>
            </a:extLst>
          </p:cNvPr>
          <p:cNvSpPr txBox="1"/>
          <p:nvPr/>
        </p:nvSpPr>
        <p:spPr>
          <a:xfrm>
            <a:off x="5662863" y="5843726"/>
            <a:ext cx="60960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sz="2400" b="1" dirty="0">
                <a:solidFill>
                  <a:schemeClr val="tx2"/>
                </a:solidFill>
                <a:latin typeface="+mj-lt"/>
              </a:rPr>
              <a:t>Key Observation:</a:t>
            </a:r>
          </a:p>
          <a:p>
            <a:pPr>
              <a:buNone/>
            </a:pPr>
            <a:r>
              <a:rPr lang="en-GB" sz="2000" dirty="0"/>
              <a:t>Small group of high-balance customers skew average</a:t>
            </a:r>
            <a:r>
              <a:rPr lang="en-GB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60251756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A015B4-C438-FEBA-D95E-2A080DA803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B7BE715-3F60-F527-D813-EF384154770C}"/>
              </a:ext>
            </a:extLst>
          </p:cNvPr>
          <p:cNvSpPr txBox="1"/>
          <p:nvPr/>
        </p:nvSpPr>
        <p:spPr>
          <a:xfrm>
            <a:off x="4946356" y="921959"/>
            <a:ext cx="6461522" cy="22159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sz="2400" b="1" dirty="0">
                <a:solidFill>
                  <a:schemeClr val="tx2"/>
                </a:solidFill>
              </a:rPr>
              <a:t>Key Insights: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Clients without housing loans show slightly higher subscription rates.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Housing loan holders show lower probability of subscribing.</a:t>
            </a:r>
          </a:p>
          <a:p>
            <a:pPr>
              <a:buFont typeface="Arial" panose="020B0604020202020204" pitchFamily="34" charset="0"/>
              <a:buChar char="•"/>
            </a:pPr>
            <a:endParaRPr lang="en-GB" dirty="0"/>
          </a:p>
          <a:p>
            <a:pPr>
              <a:buNone/>
            </a:pPr>
            <a:r>
              <a:rPr lang="en-GB" sz="2400" b="1" dirty="0">
                <a:solidFill>
                  <a:schemeClr val="tx2"/>
                </a:solidFill>
              </a:rPr>
              <a:t>Key Observation:</a:t>
            </a:r>
          </a:p>
          <a:p>
            <a:pPr>
              <a:buNone/>
            </a:pPr>
            <a:r>
              <a:rPr lang="en-GB" dirty="0"/>
              <a:t>Existing financial commitments may reduce investment willingness.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B8DEC0E-4DF0-7C4C-EEC7-3269D745A099}"/>
              </a:ext>
            </a:extLst>
          </p:cNvPr>
          <p:cNvSpPr txBox="1"/>
          <p:nvPr/>
        </p:nvSpPr>
        <p:spPr>
          <a:xfrm>
            <a:off x="2173232" y="4789171"/>
            <a:ext cx="5353051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sz="2400" b="1" dirty="0">
                <a:solidFill>
                  <a:schemeClr val="tx2"/>
                </a:solidFill>
              </a:rPr>
              <a:t>Key Insights: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Personal loan holders show lower subscription rate.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Non-loan customers convert better.</a:t>
            </a:r>
          </a:p>
          <a:p>
            <a:pPr>
              <a:buFont typeface="Arial" panose="020B0604020202020204" pitchFamily="34" charset="0"/>
              <a:buChar char="•"/>
            </a:pPr>
            <a:endParaRPr lang="en-GB" dirty="0"/>
          </a:p>
          <a:p>
            <a:pPr>
              <a:buNone/>
            </a:pPr>
            <a:r>
              <a:rPr lang="en-GB" sz="2400" b="1" dirty="0">
                <a:solidFill>
                  <a:schemeClr val="tx2"/>
                </a:solidFill>
              </a:rPr>
              <a:t>Key Observation: </a:t>
            </a:r>
          </a:p>
          <a:p>
            <a:pPr>
              <a:buNone/>
            </a:pPr>
            <a:r>
              <a:rPr lang="en-GB" dirty="0"/>
              <a:t>Clients already managing debt are less likely to invest.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CBEBBF4-E7B1-2B82-4295-FDE6C54CC0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42243" y="3429001"/>
            <a:ext cx="4849757" cy="34290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E65A9B8-B52A-430F-FF90-9AF05645EA6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600" y="958875"/>
            <a:ext cx="4849756" cy="34290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40BCA8C-7D4F-AF16-DF2F-D215BF732589}"/>
              </a:ext>
            </a:extLst>
          </p:cNvPr>
          <p:cNvSpPr txBox="1"/>
          <p:nvPr/>
        </p:nvSpPr>
        <p:spPr>
          <a:xfrm>
            <a:off x="3419475" y="181462"/>
            <a:ext cx="535305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000" b="1" dirty="0">
                <a:solidFill>
                  <a:schemeClr val="tx2"/>
                </a:solidFill>
                <a:latin typeface="+mj-lt"/>
              </a:rPr>
              <a:t>Loan Status Analysis</a:t>
            </a:r>
          </a:p>
        </p:txBody>
      </p:sp>
    </p:spTree>
    <p:extLst>
      <p:ext uri="{BB962C8B-B14F-4D97-AF65-F5344CB8AC3E}">
        <p14:creationId xmlns:p14="http://schemas.microsoft.com/office/powerpoint/2010/main" val="311362058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4A1219-2A9C-D856-B26E-ED29489667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C483DD3-A584-F8A7-8346-2F65CA9DEBC8}"/>
              </a:ext>
            </a:extLst>
          </p:cNvPr>
          <p:cNvSpPr txBox="1"/>
          <p:nvPr/>
        </p:nvSpPr>
        <p:spPr>
          <a:xfrm>
            <a:off x="6956259" y="2146502"/>
            <a:ext cx="4674268" cy="3262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sz="2400" b="1" dirty="0">
                <a:solidFill>
                  <a:schemeClr val="tx2"/>
                </a:solidFill>
                <a:latin typeface="+mj-lt"/>
              </a:rPr>
              <a:t>Key Insights: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2000" dirty="0"/>
              <a:t>Cellular contact yields highest conversions.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2000" dirty="0"/>
              <a:t>Telephone channel shows weakest performance.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2000" dirty="0"/>
              <a:t>Unknown category has poor conversion.</a:t>
            </a:r>
          </a:p>
          <a:p>
            <a:pPr>
              <a:buFont typeface="Arial" panose="020B0604020202020204" pitchFamily="34" charset="0"/>
              <a:buChar char="•"/>
            </a:pPr>
            <a:endParaRPr lang="en-GB" dirty="0"/>
          </a:p>
          <a:p>
            <a:pPr>
              <a:buNone/>
            </a:pPr>
            <a:r>
              <a:rPr lang="en-GB" sz="2400" b="1" dirty="0">
                <a:solidFill>
                  <a:schemeClr val="tx2"/>
                </a:solidFill>
                <a:latin typeface="+mj-lt"/>
              </a:rPr>
              <a:t>Key Observation:</a:t>
            </a:r>
          </a:p>
          <a:p>
            <a:pPr>
              <a:buNone/>
            </a:pPr>
            <a:r>
              <a:rPr lang="en-GB" sz="2000" dirty="0"/>
              <a:t>Mobile-based outreach is most effective marketing channel.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2530B11-241C-5DD5-F2F0-D0BEEF2D5B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612806"/>
            <a:ext cx="6464968" cy="457102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19E44FE-F3A9-E1CD-15C5-D289E0CBA3F7}"/>
              </a:ext>
            </a:extLst>
          </p:cNvPr>
          <p:cNvSpPr txBox="1"/>
          <p:nvPr/>
        </p:nvSpPr>
        <p:spPr>
          <a:xfrm>
            <a:off x="2809373" y="287436"/>
            <a:ext cx="745757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000" b="1" dirty="0">
                <a:solidFill>
                  <a:schemeClr val="tx2"/>
                </a:solidFill>
                <a:latin typeface="+mj-lt"/>
              </a:rPr>
              <a:t>Contact Method Effectiveness</a:t>
            </a:r>
          </a:p>
        </p:txBody>
      </p:sp>
    </p:spTree>
    <p:extLst>
      <p:ext uri="{BB962C8B-B14F-4D97-AF65-F5344CB8AC3E}">
        <p14:creationId xmlns:p14="http://schemas.microsoft.com/office/powerpoint/2010/main" val="168656187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563C7F-F635-4B46-73CE-F02C536871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87E0465-B5B4-2040-6CA1-05DE699B29A1}"/>
              </a:ext>
            </a:extLst>
          </p:cNvPr>
          <p:cNvSpPr txBox="1"/>
          <p:nvPr/>
        </p:nvSpPr>
        <p:spPr>
          <a:xfrm>
            <a:off x="1283437" y="1597708"/>
            <a:ext cx="4016342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sz="2400" b="1" dirty="0">
                <a:solidFill>
                  <a:schemeClr val="tx2"/>
                </a:solidFill>
                <a:latin typeface="+mj-lt"/>
              </a:rPr>
              <a:t>Observations: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2000" dirty="0"/>
              <a:t>Peak campaign month: </a:t>
            </a:r>
            <a:r>
              <a:rPr lang="en-GB" sz="2000" b="1" dirty="0"/>
              <a:t>May</a:t>
            </a:r>
            <a:endParaRPr lang="en-GB" sz="2000" dirty="0"/>
          </a:p>
          <a:p>
            <a:pPr>
              <a:buFont typeface="Arial" panose="020B0604020202020204" pitchFamily="34" charset="0"/>
              <a:buChar char="•"/>
            </a:pPr>
            <a:r>
              <a:rPr lang="en-GB" sz="2000" dirty="0"/>
              <a:t>Strong activity in June, July, August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2000" dirty="0"/>
              <a:t>Day 20 most frequent contact day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F9AF399-E6B0-BFB5-725F-51E4D6CBC408}"/>
              </a:ext>
            </a:extLst>
          </p:cNvPr>
          <p:cNvSpPr txBox="1"/>
          <p:nvPr/>
        </p:nvSpPr>
        <p:spPr>
          <a:xfrm>
            <a:off x="7572644" y="5320118"/>
            <a:ext cx="4058653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sz="2400" b="1" dirty="0">
                <a:solidFill>
                  <a:schemeClr val="tx2"/>
                </a:solidFill>
                <a:latin typeface="+mj-lt"/>
              </a:rPr>
              <a:t>Key Insight:</a:t>
            </a:r>
          </a:p>
          <a:p>
            <a:pPr>
              <a:buNone/>
            </a:pPr>
            <a:r>
              <a:rPr lang="en-GB" sz="2000" dirty="0"/>
              <a:t>Campaign concentrated mid-year.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4E5ED8C-F2AC-D280-A5B3-206EAB4DFA0A}"/>
              </a:ext>
            </a:extLst>
          </p:cNvPr>
          <p:cNvSpPr txBox="1"/>
          <p:nvPr/>
        </p:nvSpPr>
        <p:spPr>
          <a:xfrm>
            <a:off x="3291608" y="263626"/>
            <a:ext cx="631036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sz="4000" b="1" dirty="0">
                <a:solidFill>
                  <a:schemeClr val="tx2"/>
                </a:solidFill>
                <a:latin typeface="+mj-lt"/>
              </a:rPr>
              <a:t>Campaign Timing Analysis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5DB3AF7-987C-E96E-C98E-01A228E7BF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846198"/>
            <a:ext cx="6499428" cy="301180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173EC53-8153-87F3-D471-A1F4A76E5AE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62374" y="1212082"/>
            <a:ext cx="6129626" cy="3397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15548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6B8C37-499B-4AC7-9A86-047CA6D5C5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C5FD5F1-C8FB-5AF4-F98C-DBF4384FBD9C}"/>
              </a:ext>
            </a:extLst>
          </p:cNvPr>
          <p:cNvSpPr txBox="1"/>
          <p:nvPr/>
        </p:nvSpPr>
        <p:spPr>
          <a:xfrm>
            <a:off x="7311190" y="2413337"/>
            <a:ext cx="4672264" cy="26468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sz="2400" b="1" dirty="0">
                <a:solidFill>
                  <a:schemeClr val="tx2"/>
                </a:solidFill>
                <a:latin typeface="+mj-lt"/>
              </a:rPr>
              <a:t>Key Insights: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2000" dirty="0"/>
              <a:t>Average call duration: </a:t>
            </a:r>
            <a:r>
              <a:rPr lang="en-GB" sz="2000" b="1" dirty="0"/>
              <a:t>258 seconds</a:t>
            </a:r>
            <a:endParaRPr lang="en-GB" sz="2000" dirty="0"/>
          </a:p>
          <a:p>
            <a:pPr>
              <a:buFont typeface="Arial" panose="020B0604020202020204" pitchFamily="34" charset="0"/>
              <a:buChar char="•"/>
            </a:pPr>
            <a:r>
              <a:rPr lang="en-GB" sz="2000" dirty="0"/>
              <a:t>Highly skewed distribution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2000" dirty="0"/>
              <a:t>Long calls associated with higher success</a:t>
            </a:r>
          </a:p>
          <a:p>
            <a:pPr>
              <a:buNone/>
            </a:pPr>
            <a:endParaRPr lang="en-GB" b="1" dirty="0"/>
          </a:p>
          <a:p>
            <a:pPr>
              <a:buNone/>
            </a:pPr>
            <a:r>
              <a:rPr lang="en-GB" sz="2400" b="1" dirty="0">
                <a:solidFill>
                  <a:schemeClr val="tx2"/>
                </a:solidFill>
                <a:latin typeface="+mj-lt"/>
              </a:rPr>
              <a:t>Critical Insight:</a:t>
            </a:r>
          </a:p>
          <a:p>
            <a:pPr>
              <a:buNone/>
            </a:pPr>
            <a:r>
              <a:rPr lang="en-GB" sz="2000" dirty="0"/>
              <a:t>Duration has </a:t>
            </a:r>
            <a:r>
              <a:rPr lang="en-GB" sz="2000" b="1" dirty="0"/>
              <a:t>strongest positive correlation (0.39)</a:t>
            </a:r>
            <a:r>
              <a:rPr lang="en-GB" sz="2000" dirty="0"/>
              <a:t> with subscription.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E40C187-45F5-58CE-A699-D6C57426BD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560669"/>
            <a:ext cx="6769768" cy="476298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B6F09DD-F394-EECF-4BC8-8BF40E1095DA}"/>
              </a:ext>
            </a:extLst>
          </p:cNvPr>
          <p:cNvSpPr txBox="1"/>
          <p:nvPr/>
        </p:nvSpPr>
        <p:spPr>
          <a:xfrm>
            <a:off x="3312694" y="376807"/>
            <a:ext cx="5566611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sz="4000" b="1" dirty="0">
                <a:solidFill>
                  <a:schemeClr val="tx2"/>
                </a:solidFill>
                <a:latin typeface="+mj-lt"/>
              </a:rPr>
              <a:t>Call Duration Analysis</a:t>
            </a:r>
          </a:p>
        </p:txBody>
      </p:sp>
    </p:spTree>
    <p:extLst>
      <p:ext uri="{BB962C8B-B14F-4D97-AF65-F5344CB8AC3E}">
        <p14:creationId xmlns:p14="http://schemas.microsoft.com/office/powerpoint/2010/main" val="142370072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EACF7C-71C1-7F88-E886-55986EB790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A9F9F69-F8CC-4362-1AFD-7678C3A97975}"/>
              </a:ext>
            </a:extLst>
          </p:cNvPr>
          <p:cNvSpPr txBox="1"/>
          <p:nvPr/>
        </p:nvSpPr>
        <p:spPr>
          <a:xfrm>
            <a:off x="7108588" y="2349361"/>
            <a:ext cx="4570065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sz="2400" b="1" dirty="0">
                <a:solidFill>
                  <a:schemeClr val="tx2"/>
                </a:solidFill>
                <a:latin typeface="+mj-lt"/>
              </a:rPr>
              <a:t>Observations: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2000" dirty="0"/>
              <a:t>Most clients contacted 1–3 times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2000" dirty="0"/>
              <a:t>More contacts → lower subscription rate</a:t>
            </a:r>
          </a:p>
          <a:p>
            <a:pPr>
              <a:buNone/>
            </a:pPr>
            <a:endParaRPr lang="en-GB" sz="2000" b="1" dirty="0"/>
          </a:p>
          <a:p>
            <a:pPr>
              <a:buNone/>
            </a:pPr>
            <a:r>
              <a:rPr lang="en-GB" sz="2400" b="1" dirty="0">
                <a:solidFill>
                  <a:schemeClr val="tx2"/>
                </a:solidFill>
                <a:latin typeface="+mj-lt"/>
              </a:rPr>
              <a:t>Correlation:</a:t>
            </a:r>
          </a:p>
          <a:p>
            <a:pPr>
              <a:buNone/>
            </a:pPr>
            <a:r>
              <a:rPr lang="en-GB" sz="2000" dirty="0"/>
              <a:t>Campaign correlation with y = </a:t>
            </a:r>
            <a:r>
              <a:rPr lang="en-GB" sz="2000" b="1" dirty="0"/>
              <a:t>-0.07</a:t>
            </a:r>
            <a:endParaRPr lang="en-GB" sz="2000" dirty="0"/>
          </a:p>
          <a:p>
            <a:pPr>
              <a:buNone/>
            </a:pPr>
            <a:endParaRPr lang="en-GB" sz="2000" b="1" dirty="0"/>
          </a:p>
          <a:p>
            <a:pPr>
              <a:buNone/>
            </a:pPr>
            <a:r>
              <a:rPr lang="en-GB" sz="2400" b="1" dirty="0">
                <a:solidFill>
                  <a:schemeClr val="tx2"/>
                </a:solidFill>
                <a:latin typeface="+mj-lt"/>
              </a:rPr>
              <a:t>Key Insight:</a:t>
            </a:r>
          </a:p>
          <a:p>
            <a:pPr>
              <a:buNone/>
            </a:pPr>
            <a:r>
              <a:rPr lang="en-GB" sz="2000" dirty="0"/>
              <a:t>Excessive calls reduce effectiveness.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C39137A-3EC7-D001-05D4-F1632DD71C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400484"/>
            <a:ext cx="6340572" cy="448307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48B727F-F89C-D761-1AF1-1A0D40F430EA}"/>
              </a:ext>
            </a:extLst>
          </p:cNvPr>
          <p:cNvSpPr txBox="1"/>
          <p:nvPr/>
        </p:nvSpPr>
        <p:spPr>
          <a:xfrm>
            <a:off x="3465095" y="405908"/>
            <a:ext cx="526181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sz="4000" b="1" dirty="0">
                <a:solidFill>
                  <a:schemeClr val="tx2"/>
                </a:solidFill>
                <a:latin typeface="+mj-lt"/>
              </a:rPr>
              <a:t>Campaign Intensity</a:t>
            </a:r>
          </a:p>
        </p:txBody>
      </p:sp>
    </p:spTree>
    <p:extLst>
      <p:ext uri="{BB962C8B-B14F-4D97-AF65-F5344CB8AC3E}">
        <p14:creationId xmlns:p14="http://schemas.microsoft.com/office/powerpoint/2010/main" val="378414400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52CDC6-297C-26FF-C522-8B63A6F0D8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7098E21-B719-D714-BD45-ACF2E83624FA}"/>
              </a:ext>
            </a:extLst>
          </p:cNvPr>
          <p:cNvSpPr txBox="1"/>
          <p:nvPr/>
        </p:nvSpPr>
        <p:spPr>
          <a:xfrm>
            <a:off x="465221" y="895492"/>
            <a:ext cx="419100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sz="2400" b="1" dirty="0">
                <a:solidFill>
                  <a:schemeClr val="tx2"/>
                </a:solidFill>
                <a:latin typeface="+mj-lt"/>
              </a:rPr>
              <a:t>Observations: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2000" dirty="0"/>
              <a:t>36,954 clients never contacted before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2000" dirty="0"/>
              <a:t>Very few had previous interactions</a:t>
            </a:r>
          </a:p>
          <a:p>
            <a:pPr>
              <a:buFont typeface="Arial" panose="020B0604020202020204" pitchFamily="34" charset="0"/>
              <a:buChar char="•"/>
            </a:pPr>
            <a:endParaRPr lang="en-GB" dirty="0"/>
          </a:p>
          <a:p>
            <a:pPr>
              <a:buNone/>
            </a:pPr>
            <a:r>
              <a:rPr lang="en-GB" sz="2400" b="1" dirty="0">
                <a:solidFill>
                  <a:schemeClr val="tx2"/>
                </a:solidFill>
                <a:latin typeface="+mj-lt"/>
              </a:rPr>
              <a:t>Key Insight:</a:t>
            </a:r>
          </a:p>
          <a:p>
            <a:pPr>
              <a:buNone/>
            </a:pPr>
            <a:r>
              <a:rPr lang="en-GB" sz="2000" dirty="0"/>
              <a:t>Large untapped customer base.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E1EB276-1D7D-7E11-6DC6-1E2FE43B88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7264" y="1257271"/>
            <a:ext cx="5614736" cy="396987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2F5B28A-6711-9717-34E8-DA74820E63D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" y="3001548"/>
            <a:ext cx="5454318" cy="3856452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9113873-E800-2E25-0763-223ABF175CD1}"/>
              </a:ext>
            </a:extLst>
          </p:cNvPr>
          <p:cNvSpPr txBox="1"/>
          <p:nvPr/>
        </p:nvSpPr>
        <p:spPr>
          <a:xfrm>
            <a:off x="5565153" y="5301877"/>
            <a:ext cx="6626847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GB" sz="2000" dirty="0"/>
              <a:t>The distribution of pdays is highly skewed because many clients were never previously contacted (pdays = -1)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GB" sz="2000" dirty="0"/>
              <a:t>Similarly, the previous variable is heavily concentrated at 0, indicating most clients had no prior campaign interactions.</a:t>
            </a:r>
            <a:endParaRPr lang="en-IN" sz="20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26A2EA6-048D-4E65-367E-C8ACAA93AEB2}"/>
              </a:ext>
            </a:extLst>
          </p:cNvPr>
          <p:cNvSpPr txBox="1"/>
          <p:nvPr/>
        </p:nvSpPr>
        <p:spPr>
          <a:xfrm>
            <a:off x="3272589" y="261248"/>
            <a:ext cx="6096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sz="4000" b="1" dirty="0">
                <a:solidFill>
                  <a:schemeClr val="tx2"/>
                </a:solidFill>
                <a:latin typeface="+mj-lt"/>
              </a:rPr>
              <a:t>Previous Campaign History</a:t>
            </a:r>
          </a:p>
        </p:txBody>
      </p:sp>
    </p:spTree>
    <p:extLst>
      <p:ext uri="{BB962C8B-B14F-4D97-AF65-F5344CB8AC3E}">
        <p14:creationId xmlns:p14="http://schemas.microsoft.com/office/powerpoint/2010/main" val="228392598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96AE7E-20E5-F25C-477F-568E1EE79E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DA5264A-2858-87BB-8B77-43497231818E}"/>
              </a:ext>
            </a:extLst>
          </p:cNvPr>
          <p:cNvSpPr txBox="1"/>
          <p:nvPr/>
        </p:nvSpPr>
        <p:spPr>
          <a:xfrm>
            <a:off x="7048891" y="1859339"/>
            <a:ext cx="4973053" cy="32932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sz="2400" b="1" dirty="0">
                <a:solidFill>
                  <a:schemeClr val="tx2"/>
                </a:solidFill>
                <a:latin typeface="+mj-lt"/>
              </a:rPr>
              <a:t>Key Insights: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2000" dirty="0"/>
              <a:t>Clients with previous success show significantly higher subscription.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2000" dirty="0"/>
              <a:t>Unknown outcome dominates but has low conversion.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2000" dirty="0"/>
              <a:t>Previous failure reduces likelihood.</a:t>
            </a:r>
          </a:p>
          <a:p>
            <a:pPr>
              <a:buFont typeface="Arial" panose="020B0604020202020204" pitchFamily="34" charset="0"/>
              <a:buChar char="•"/>
            </a:pPr>
            <a:endParaRPr lang="en-GB" sz="2000" dirty="0"/>
          </a:p>
          <a:p>
            <a:pPr>
              <a:buNone/>
            </a:pPr>
            <a:r>
              <a:rPr lang="en-GB" sz="2400" b="1" dirty="0">
                <a:solidFill>
                  <a:schemeClr val="tx2"/>
                </a:solidFill>
                <a:latin typeface="+mj-lt"/>
              </a:rPr>
              <a:t>Key Observation:</a:t>
            </a:r>
          </a:p>
          <a:p>
            <a:pPr>
              <a:buNone/>
            </a:pPr>
            <a:r>
              <a:rPr lang="en-GB" sz="2000" dirty="0"/>
              <a:t>Past successful engagement is a strong predictor of future success.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C34884E-5BD8-8DD9-6572-E30AE8F27A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1660933"/>
            <a:ext cx="6567629" cy="464361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E7CA527-DD97-CC97-E784-5212E1047B74}"/>
              </a:ext>
            </a:extLst>
          </p:cNvPr>
          <p:cNvSpPr txBox="1"/>
          <p:nvPr/>
        </p:nvSpPr>
        <p:spPr>
          <a:xfrm>
            <a:off x="1612232" y="329364"/>
            <a:ext cx="8967536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000" b="1" dirty="0">
                <a:solidFill>
                  <a:schemeClr val="tx2"/>
                </a:solidFill>
                <a:latin typeface="+mj-lt"/>
              </a:rPr>
              <a:t>Previous Campaign Outcome Impact</a:t>
            </a:r>
          </a:p>
        </p:txBody>
      </p:sp>
    </p:spTree>
    <p:extLst>
      <p:ext uri="{BB962C8B-B14F-4D97-AF65-F5344CB8AC3E}">
        <p14:creationId xmlns:p14="http://schemas.microsoft.com/office/powerpoint/2010/main" val="246861707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D40CF2-3BC3-E9F4-51B8-95C36DF54A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A587B50-6844-7280-7190-7C5F555546CE}"/>
              </a:ext>
            </a:extLst>
          </p:cNvPr>
          <p:cNvSpPr txBox="1"/>
          <p:nvPr/>
        </p:nvSpPr>
        <p:spPr>
          <a:xfrm>
            <a:off x="7261103" y="2136338"/>
            <a:ext cx="4362450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sz="2400" b="1" dirty="0">
                <a:solidFill>
                  <a:schemeClr val="tx2"/>
                </a:solidFill>
                <a:latin typeface="+mj-lt"/>
              </a:rPr>
              <a:t>Key Numbers: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2000" dirty="0"/>
              <a:t>Subscribed: </a:t>
            </a:r>
            <a:r>
              <a:rPr lang="en-GB" sz="2000" b="1" dirty="0"/>
              <a:t>5,289</a:t>
            </a:r>
            <a:endParaRPr lang="en-GB" sz="2000" dirty="0"/>
          </a:p>
          <a:p>
            <a:pPr>
              <a:buFont typeface="Arial" panose="020B0604020202020204" pitchFamily="34" charset="0"/>
              <a:buChar char="•"/>
            </a:pPr>
            <a:r>
              <a:rPr lang="en-GB" sz="2000" dirty="0"/>
              <a:t>Not Subscribed: </a:t>
            </a:r>
            <a:r>
              <a:rPr lang="en-GB" sz="2000" b="1" dirty="0"/>
              <a:t>39,922</a:t>
            </a:r>
            <a:endParaRPr lang="en-GB" sz="2000" dirty="0"/>
          </a:p>
          <a:p>
            <a:pPr>
              <a:buFont typeface="Arial" panose="020B0604020202020204" pitchFamily="34" charset="0"/>
              <a:buChar char="•"/>
            </a:pPr>
            <a:r>
              <a:rPr lang="en-GB" sz="2000" dirty="0"/>
              <a:t>Subscription rate: </a:t>
            </a:r>
            <a:r>
              <a:rPr lang="en-GB" sz="2000" b="1" dirty="0"/>
              <a:t>11.7%</a:t>
            </a:r>
          </a:p>
          <a:p>
            <a:pPr>
              <a:buFont typeface="Arial" panose="020B0604020202020204" pitchFamily="34" charset="0"/>
              <a:buChar char="•"/>
            </a:pPr>
            <a:endParaRPr lang="en-GB" sz="2000" dirty="0"/>
          </a:p>
          <a:p>
            <a:pPr>
              <a:buNone/>
            </a:pPr>
            <a:r>
              <a:rPr lang="en-GB" sz="2400" b="1" dirty="0">
                <a:solidFill>
                  <a:schemeClr val="tx2"/>
                </a:solidFill>
                <a:latin typeface="+mj-lt"/>
              </a:rPr>
              <a:t>Key Observation:</a:t>
            </a:r>
          </a:p>
          <a:p>
            <a:pPr>
              <a:buNone/>
            </a:pPr>
            <a:r>
              <a:rPr lang="en-GB" sz="2000" dirty="0"/>
              <a:t>Highly imbalanced outcome.</a:t>
            </a:r>
            <a:br>
              <a:rPr lang="en-GB" sz="2000" dirty="0"/>
            </a:br>
            <a:r>
              <a:rPr lang="en-GB" sz="2000" dirty="0"/>
              <a:t>Campaign conversion is relatively low.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F425B56-AE57-8B45-4571-D6D4E7E096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651858"/>
            <a:ext cx="6912116" cy="488718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31D7232-1857-8338-BC9B-AD4975FB4FA1}"/>
              </a:ext>
            </a:extLst>
          </p:cNvPr>
          <p:cNvSpPr txBox="1"/>
          <p:nvPr/>
        </p:nvSpPr>
        <p:spPr>
          <a:xfrm>
            <a:off x="3048000" y="318959"/>
            <a:ext cx="6096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sz="4000" b="1" dirty="0">
                <a:solidFill>
                  <a:schemeClr val="tx2"/>
                </a:solidFill>
                <a:latin typeface="+mj-lt"/>
              </a:rPr>
              <a:t>Subscription Distribution</a:t>
            </a:r>
          </a:p>
        </p:txBody>
      </p:sp>
    </p:spTree>
    <p:extLst>
      <p:ext uri="{BB962C8B-B14F-4D97-AF65-F5344CB8AC3E}">
        <p14:creationId xmlns:p14="http://schemas.microsoft.com/office/powerpoint/2010/main" val="254926532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2775B6-7027-67B9-E9F0-1C9EA54C63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E5B9413-A905-9CB5-D147-1E56D515C34E}"/>
              </a:ext>
            </a:extLst>
          </p:cNvPr>
          <p:cNvSpPr txBox="1"/>
          <p:nvPr/>
        </p:nvSpPr>
        <p:spPr>
          <a:xfrm>
            <a:off x="0" y="1308509"/>
            <a:ext cx="3603400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b="1" dirty="0">
                <a:solidFill>
                  <a:schemeClr val="tx2"/>
                </a:solidFill>
                <a:latin typeface="+mj-lt"/>
              </a:rPr>
              <a:t>Strongest Positive Drivers: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2000" dirty="0"/>
              <a:t>Duration (0.39)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2000" dirty="0"/>
              <a:t>pdays (0.10)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2000" dirty="0"/>
              <a:t>previous (0.09)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B98781D-16AD-309F-5F81-7A1028FE1DDD}"/>
              </a:ext>
            </a:extLst>
          </p:cNvPr>
          <p:cNvSpPr txBox="1"/>
          <p:nvPr/>
        </p:nvSpPr>
        <p:spPr>
          <a:xfrm>
            <a:off x="6563506" y="5756374"/>
            <a:ext cx="5628494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sz="2400" b="1" dirty="0">
                <a:solidFill>
                  <a:schemeClr val="tx2"/>
                </a:solidFill>
                <a:latin typeface="+mj-lt"/>
              </a:rPr>
              <a:t>Key Insight:</a:t>
            </a:r>
          </a:p>
          <a:p>
            <a:pPr>
              <a:buNone/>
            </a:pPr>
            <a:r>
              <a:rPr lang="en-GB" sz="2000" dirty="0"/>
              <a:t>Call duration is the strongest driver of subscription probability.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7BD58CF-15A1-D438-7D87-0A1C12DE5F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880545"/>
            <a:ext cx="6124268" cy="475948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FC547B9-409B-0DEB-C7C2-8378BB4EC1B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207" y="3429000"/>
            <a:ext cx="6124267" cy="3404592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748B470C-0060-2B8D-6A12-90F5F536BE19}"/>
              </a:ext>
            </a:extLst>
          </p:cNvPr>
          <p:cNvSpPr txBox="1"/>
          <p:nvPr/>
        </p:nvSpPr>
        <p:spPr>
          <a:xfrm>
            <a:off x="3653088" y="56311"/>
            <a:ext cx="462915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000" b="1" dirty="0">
                <a:solidFill>
                  <a:schemeClr val="tx2"/>
                </a:solidFill>
                <a:latin typeface="+mj-lt"/>
              </a:rPr>
              <a:t>Correlation Analysis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AF938FA-99ED-3BB9-1213-8D7E58936479}"/>
              </a:ext>
            </a:extLst>
          </p:cNvPr>
          <p:cNvSpPr txBox="1"/>
          <p:nvPr/>
        </p:nvSpPr>
        <p:spPr>
          <a:xfrm>
            <a:off x="3653088" y="1308509"/>
            <a:ext cx="2571410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sz="2400" b="1" dirty="0">
                <a:solidFill>
                  <a:schemeClr val="tx2"/>
                </a:solidFill>
                <a:latin typeface="+mj-lt"/>
              </a:rPr>
              <a:t>Negative Drivers: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2000" dirty="0"/>
              <a:t>Housing loan (-0.14)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2000" dirty="0"/>
              <a:t>Campaign (-0.07)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2000" dirty="0"/>
              <a:t>Personal loan (-0.07)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19242779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ADD516-0232-816F-01D9-A34A051742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CA4ACF4-4945-F27A-1AF8-B78733D1CA2C}"/>
              </a:ext>
            </a:extLst>
          </p:cNvPr>
          <p:cNvSpPr txBox="1"/>
          <p:nvPr/>
        </p:nvSpPr>
        <p:spPr>
          <a:xfrm>
            <a:off x="2495100" y="1776268"/>
            <a:ext cx="7475561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sz="2400" b="1" dirty="0">
                <a:latin typeface="+mj-lt"/>
              </a:rPr>
              <a:t>Focus on Call Quality, Not Quantity</a:t>
            </a:r>
          </a:p>
          <a:p>
            <a:pPr>
              <a:buNone/>
            </a:pPr>
            <a:r>
              <a:rPr lang="en-GB" sz="2400" dirty="0"/>
              <a:t>Longer, meaningful conversations increase conversion.</a:t>
            </a:r>
          </a:p>
          <a:p>
            <a:pPr>
              <a:buNone/>
            </a:pPr>
            <a:endParaRPr lang="en-GB" sz="2400" dirty="0"/>
          </a:p>
          <a:p>
            <a:pPr>
              <a:buNone/>
            </a:pPr>
            <a:r>
              <a:rPr lang="en-GB" sz="2400" b="1" dirty="0">
                <a:latin typeface="+mj-lt"/>
              </a:rPr>
              <a:t>Prioritize Customers with Past Success</a:t>
            </a:r>
          </a:p>
          <a:p>
            <a:pPr>
              <a:buNone/>
            </a:pPr>
            <a:r>
              <a:rPr lang="en-GB" sz="2400" dirty="0"/>
              <a:t>Higher likelihood of subscription.</a:t>
            </a:r>
          </a:p>
          <a:p>
            <a:pPr>
              <a:buNone/>
            </a:pPr>
            <a:endParaRPr lang="en-GB" sz="2400" b="1" dirty="0"/>
          </a:p>
          <a:p>
            <a:pPr>
              <a:buNone/>
            </a:pPr>
            <a:r>
              <a:rPr lang="en-GB" sz="2400" b="1" dirty="0">
                <a:latin typeface="+mj-lt"/>
              </a:rPr>
              <a:t>Optimize Campaign Frequency</a:t>
            </a:r>
          </a:p>
          <a:p>
            <a:pPr>
              <a:buNone/>
            </a:pPr>
            <a:r>
              <a:rPr lang="en-GB" sz="2400" dirty="0"/>
              <a:t>Avoid excessive repeated calls.</a:t>
            </a:r>
          </a:p>
          <a:p>
            <a:pPr>
              <a:buNone/>
            </a:pPr>
            <a:endParaRPr lang="en-GB" sz="2400" b="1" dirty="0"/>
          </a:p>
          <a:p>
            <a:pPr>
              <a:buNone/>
            </a:pPr>
            <a:r>
              <a:rPr lang="en-GB" sz="2400" b="1" dirty="0">
                <a:latin typeface="+mj-lt"/>
              </a:rPr>
              <a:t>Target Mid-aged, Working Professionals</a:t>
            </a:r>
          </a:p>
          <a:p>
            <a:pPr>
              <a:buNone/>
            </a:pPr>
            <a:r>
              <a:rPr lang="en-GB" sz="2400" dirty="0"/>
              <a:t>Core customer segment identified.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EB85729-301A-B4AD-DFC8-7D049B67FB59}"/>
              </a:ext>
            </a:extLst>
          </p:cNvPr>
          <p:cNvSpPr txBox="1"/>
          <p:nvPr/>
        </p:nvSpPr>
        <p:spPr>
          <a:xfrm>
            <a:off x="2967849" y="422181"/>
            <a:ext cx="7475561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sz="4000" b="1" dirty="0">
                <a:solidFill>
                  <a:schemeClr val="tx2"/>
                </a:solidFill>
                <a:latin typeface="+mj-lt"/>
              </a:rPr>
              <a:t>Strategic Recommendation</a:t>
            </a:r>
          </a:p>
        </p:txBody>
      </p:sp>
      <p:pic>
        <p:nvPicPr>
          <p:cNvPr id="7" name="Graphic 6" descr="Checkmark with solid fill">
            <a:extLst>
              <a:ext uri="{FF2B5EF4-FFF2-40B4-BE49-F238E27FC236}">
                <a16:creationId xmlns:a16="http://schemas.microsoft.com/office/drawing/2014/main" id="{63602884-A126-5297-37E9-4404735C7EC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060646" y="4103695"/>
            <a:ext cx="434454" cy="434454"/>
          </a:xfrm>
          <a:prstGeom prst="rect">
            <a:avLst/>
          </a:prstGeom>
        </p:spPr>
      </p:pic>
      <p:pic>
        <p:nvPicPr>
          <p:cNvPr id="8" name="Graphic 7" descr="Checkmark with solid fill">
            <a:extLst>
              <a:ext uri="{FF2B5EF4-FFF2-40B4-BE49-F238E27FC236}">
                <a16:creationId xmlns:a16="http://schemas.microsoft.com/office/drawing/2014/main" id="{DA48FD8B-624E-E4D9-C226-8E94F669E5D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060646" y="2969246"/>
            <a:ext cx="434454" cy="434454"/>
          </a:xfrm>
          <a:prstGeom prst="rect">
            <a:avLst/>
          </a:prstGeom>
        </p:spPr>
      </p:pic>
      <p:pic>
        <p:nvPicPr>
          <p:cNvPr id="9" name="Graphic 8" descr="Checkmark with solid fill">
            <a:extLst>
              <a:ext uri="{FF2B5EF4-FFF2-40B4-BE49-F238E27FC236}">
                <a16:creationId xmlns:a16="http://schemas.microsoft.com/office/drawing/2014/main" id="{EF87768A-4133-E1A0-9B9E-FAAC617B43C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060646" y="1885398"/>
            <a:ext cx="434454" cy="434454"/>
          </a:xfrm>
          <a:prstGeom prst="rect">
            <a:avLst/>
          </a:prstGeom>
        </p:spPr>
      </p:pic>
      <p:pic>
        <p:nvPicPr>
          <p:cNvPr id="10" name="Graphic 9" descr="Checkmark with solid fill">
            <a:extLst>
              <a:ext uri="{FF2B5EF4-FFF2-40B4-BE49-F238E27FC236}">
                <a16:creationId xmlns:a16="http://schemas.microsoft.com/office/drawing/2014/main" id="{67BE9C3A-CE91-3820-8BB7-8C44EDF7941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060646" y="5187543"/>
            <a:ext cx="434454" cy="4344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963291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C04DD89-0B4F-787F-17F5-9A3D2793BD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3363022-C969-41E9-8EB2-E4C94908C1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91695" cy="685202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D1AD6B3-BE88-4CEB-BA17-790657CC47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71C668E-1F19-4608-4FF8-82E7EA61A768}"/>
              </a:ext>
            </a:extLst>
          </p:cNvPr>
          <p:cNvSpPr txBox="1"/>
          <p:nvPr/>
        </p:nvSpPr>
        <p:spPr>
          <a:xfrm>
            <a:off x="6590662" y="4267832"/>
            <a:ext cx="4805996" cy="129711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400" b="1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Thank You</a:t>
            </a:r>
          </a:p>
        </p:txBody>
      </p:sp>
      <p:pic>
        <p:nvPicPr>
          <p:cNvPr id="6" name="Graphic 5" descr="Handshake">
            <a:extLst>
              <a:ext uri="{FF2B5EF4-FFF2-40B4-BE49-F238E27FC236}">
                <a16:creationId xmlns:a16="http://schemas.microsoft.com/office/drawing/2014/main" id="{FE89EB0C-997B-6B81-B495-31810877281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40470" y="1815320"/>
            <a:ext cx="4141760" cy="4141760"/>
          </a:xfrm>
          <a:custGeom>
            <a:avLst/>
            <a:gdLst/>
            <a:ahLst/>
            <a:cxnLst/>
            <a:rect l="l" t="t" r="r" b="b"/>
            <a:pathLst>
              <a:path w="4141760" h="4377846">
                <a:moveTo>
                  <a:pt x="0" y="0"/>
                </a:moveTo>
                <a:lnTo>
                  <a:pt x="4141760" y="0"/>
                </a:lnTo>
                <a:lnTo>
                  <a:pt x="4141760" y="4377846"/>
                </a:lnTo>
                <a:lnTo>
                  <a:pt x="0" y="4377846"/>
                </a:lnTo>
                <a:close/>
              </a:path>
            </a:pathLst>
          </a:custGeom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89D1390B-7E13-4B4F-9CB2-391063412E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4253" y="-5977"/>
            <a:ext cx="6238675" cy="6863979"/>
            <a:chOff x="305" y="-5977"/>
            <a:chExt cx="6238675" cy="6863979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9E720206-AA49-4786-A932-A2650DE091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34854"/>
              <a:ext cx="6028697" cy="6817170"/>
            </a:xfrm>
            <a:custGeom>
              <a:avLst/>
              <a:gdLst>
                <a:gd name="connsiteX0" fmla="*/ 6028697 w 6028697"/>
                <a:gd name="connsiteY0" fmla="*/ 6155323 h 6817170"/>
                <a:gd name="connsiteX1" fmla="*/ 6028697 w 6028697"/>
                <a:gd name="connsiteY1" fmla="*/ 6817170 h 6817170"/>
                <a:gd name="connsiteX2" fmla="*/ 5157862 w 6028697"/>
                <a:gd name="connsiteY2" fmla="*/ 6817170 h 6817170"/>
                <a:gd name="connsiteX3" fmla="*/ 5347156 w 6028697"/>
                <a:gd name="connsiteY3" fmla="*/ 6687553 h 6817170"/>
                <a:gd name="connsiteX4" fmla="*/ 5487470 w 6028697"/>
                <a:gd name="connsiteY4" fmla="*/ 6581714 h 6817170"/>
                <a:gd name="connsiteX5" fmla="*/ 5627642 w 6028697"/>
                <a:gd name="connsiteY5" fmla="*/ 6472328 h 6817170"/>
                <a:gd name="connsiteX6" fmla="*/ 5911392 w 6028697"/>
                <a:gd name="connsiteY6" fmla="*/ 6245328 h 6817170"/>
                <a:gd name="connsiteX7" fmla="*/ 4481066 w 6028697"/>
                <a:gd name="connsiteY7" fmla="*/ 478 h 6817170"/>
                <a:gd name="connsiteX8" fmla="*/ 4672258 w 6028697"/>
                <a:gd name="connsiteY8" fmla="*/ 7519 h 6817170"/>
                <a:gd name="connsiteX9" fmla="*/ 5429869 w 6028697"/>
                <a:gd name="connsiteY9" fmla="*/ 125134 h 6817170"/>
                <a:gd name="connsiteX10" fmla="*/ 5976319 w 6028697"/>
                <a:gd name="connsiteY10" fmla="*/ 314893 h 6817170"/>
                <a:gd name="connsiteX11" fmla="*/ 6028697 w 6028697"/>
                <a:gd name="connsiteY11" fmla="*/ 339901 h 6817170"/>
                <a:gd name="connsiteX12" fmla="*/ 6028697 w 6028697"/>
                <a:gd name="connsiteY12" fmla="*/ 732458 h 6817170"/>
                <a:gd name="connsiteX13" fmla="*/ 5990985 w 6028697"/>
                <a:gd name="connsiteY13" fmla="*/ 712211 h 6817170"/>
                <a:gd name="connsiteX14" fmla="*/ 5341339 w 6028697"/>
                <a:gd name="connsiteY14" fmla="*/ 475281 h 6817170"/>
                <a:gd name="connsiteX15" fmla="*/ 4651969 w 6028697"/>
                <a:gd name="connsiteY15" fmla="*/ 377104 h 6817170"/>
                <a:gd name="connsiteX16" fmla="*/ 3953093 w 6028697"/>
                <a:gd name="connsiteY16" fmla="*/ 402498 h 6817170"/>
                <a:gd name="connsiteX17" fmla="*/ 3267413 w 6028697"/>
                <a:gd name="connsiteY17" fmla="*/ 546643 h 6817170"/>
                <a:gd name="connsiteX18" fmla="*/ 1439498 w 6028697"/>
                <a:gd name="connsiteY18" fmla="*/ 1568141 h 6817170"/>
                <a:gd name="connsiteX19" fmla="*/ 960671 w 6028697"/>
                <a:gd name="connsiteY19" fmla="*/ 2082013 h 6817170"/>
                <a:gd name="connsiteX20" fmla="*/ 581866 w 6028697"/>
                <a:gd name="connsiteY20" fmla="*/ 2672638 h 6817170"/>
                <a:gd name="connsiteX21" fmla="*/ 324789 w 6028697"/>
                <a:gd name="connsiteY21" fmla="*/ 3325262 h 6817170"/>
                <a:gd name="connsiteX22" fmla="*/ 231151 w 6028697"/>
                <a:gd name="connsiteY22" fmla="*/ 4022292 h 6817170"/>
                <a:gd name="connsiteX23" fmla="*/ 270592 w 6028697"/>
                <a:gd name="connsiteY23" fmla="*/ 4362792 h 6817170"/>
                <a:gd name="connsiteX24" fmla="*/ 387213 w 6028697"/>
                <a:gd name="connsiteY24" fmla="*/ 4681585 h 6817170"/>
                <a:gd name="connsiteX25" fmla="*/ 468507 w 6028697"/>
                <a:gd name="connsiteY25" fmla="*/ 4831546 h 6817170"/>
                <a:gd name="connsiteX26" fmla="*/ 561862 w 6028697"/>
                <a:gd name="connsiteY26" fmla="*/ 4976826 h 6817170"/>
                <a:gd name="connsiteX27" fmla="*/ 777511 w 6028697"/>
                <a:gd name="connsiteY27" fmla="*/ 5257597 h 6817170"/>
                <a:gd name="connsiteX28" fmla="*/ 1010895 w 6028697"/>
                <a:gd name="connsiteY28" fmla="*/ 5540494 h 6817170"/>
                <a:gd name="connsiteX29" fmla="*/ 1126948 w 6028697"/>
                <a:gd name="connsiteY29" fmla="*/ 5688186 h 6817170"/>
                <a:gd name="connsiteX30" fmla="*/ 1182706 w 6028697"/>
                <a:gd name="connsiteY30" fmla="*/ 5760543 h 6817170"/>
                <a:gd name="connsiteX31" fmla="*/ 1237327 w 6028697"/>
                <a:gd name="connsiteY31" fmla="*/ 5830060 h 6817170"/>
                <a:gd name="connsiteX32" fmla="*/ 1706649 w 6028697"/>
                <a:gd name="connsiteY32" fmla="*/ 6342797 h 6817170"/>
                <a:gd name="connsiteX33" fmla="*/ 1956207 w 6028697"/>
                <a:gd name="connsiteY33" fmla="*/ 6573484 h 6817170"/>
                <a:gd name="connsiteX34" fmla="*/ 2217681 w 6028697"/>
                <a:gd name="connsiteY34" fmla="*/ 6786297 h 6817170"/>
                <a:gd name="connsiteX35" fmla="*/ 2260820 w 6028697"/>
                <a:gd name="connsiteY35" fmla="*/ 6817170 h 6817170"/>
                <a:gd name="connsiteX36" fmla="*/ 1429497 w 6028697"/>
                <a:gd name="connsiteY36" fmla="*/ 6817170 h 6817170"/>
                <a:gd name="connsiteX37" fmla="*/ 1327275 w 6028697"/>
                <a:gd name="connsiteY37" fmla="*/ 6713800 h 6817170"/>
                <a:gd name="connsiteX38" fmla="*/ 1080556 w 6028697"/>
                <a:gd name="connsiteY38" fmla="*/ 6414443 h 6817170"/>
                <a:gd name="connsiteX39" fmla="*/ 865189 w 6028697"/>
                <a:gd name="connsiteY39" fmla="*/ 6097496 h 6817170"/>
                <a:gd name="connsiteX40" fmla="*/ 814823 w 6028697"/>
                <a:gd name="connsiteY40" fmla="*/ 6016911 h 6817170"/>
                <a:gd name="connsiteX41" fmla="*/ 766729 w 6028697"/>
                <a:gd name="connsiteY41" fmla="*/ 5938453 h 6817170"/>
                <a:gd name="connsiteX42" fmla="*/ 671672 w 6028697"/>
                <a:gd name="connsiteY42" fmla="*/ 5786648 h 6817170"/>
                <a:gd name="connsiteX43" fmla="*/ 474608 w 6028697"/>
                <a:gd name="connsiteY43" fmla="*/ 5474664 h 6817170"/>
                <a:gd name="connsiteX44" fmla="*/ 282652 w 6028697"/>
                <a:gd name="connsiteY44" fmla="*/ 5146508 h 6817170"/>
                <a:gd name="connsiteX45" fmla="*/ 196108 w 6028697"/>
                <a:gd name="connsiteY45" fmla="*/ 4972712 h 6817170"/>
                <a:gd name="connsiteX46" fmla="*/ 122474 w 6028697"/>
                <a:gd name="connsiteY46" fmla="*/ 4791821 h 6817170"/>
                <a:gd name="connsiteX47" fmla="*/ 65724 w 6028697"/>
                <a:gd name="connsiteY47" fmla="*/ 4603129 h 6817170"/>
                <a:gd name="connsiteX48" fmla="*/ 44727 w 6028697"/>
                <a:gd name="connsiteY48" fmla="*/ 4506937 h 6817170"/>
                <a:gd name="connsiteX49" fmla="*/ 35505 w 6028697"/>
                <a:gd name="connsiteY49" fmla="*/ 4458699 h 6817170"/>
                <a:gd name="connsiteX50" fmla="*/ 27845 w 6028697"/>
                <a:gd name="connsiteY50" fmla="*/ 4410320 h 6817170"/>
                <a:gd name="connsiteX51" fmla="*/ 37 w 6028697"/>
                <a:gd name="connsiteY51" fmla="*/ 4022292 h 6817170"/>
                <a:gd name="connsiteX52" fmla="*/ 78777 w 6028697"/>
                <a:gd name="connsiteY52" fmla="*/ 3267236 h 6817170"/>
                <a:gd name="connsiteX53" fmla="*/ 315424 w 6028697"/>
                <a:gd name="connsiteY53" fmla="*/ 2543673 h 6817170"/>
                <a:gd name="connsiteX54" fmla="*/ 1202710 w 6028697"/>
                <a:gd name="connsiteY54" fmla="*/ 1314895 h 6817170"/>
                <a:gd name="connsiteX55" fmla="*/ 1791065 w 6028697"/>
                <a:gd name="connsiteY55" fmla="*/ 833514 h 6817170"/>
                <a:gd name="connsiteX56" fmla="*/ 3908404 w 6028697"/>
                <a:gd name="connsiteY56" fmla="*/ 29794 h 6817170"/>
                <a:gd name="connsiteX57" fmla="*/ 4481066 w 6028697"/>
                <a:gd name="connsiteY57" fmla="*/ 478 h 68171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</a:cxnLst>
              <a:rect l="l" t="t" r="r" b="b"/>
              <a:pathLst>
                <a:path w="6028697" h="6817170">
                  <a:moveTo>
                    <a:pt x="6028697" y="6155323"/>
                  </a:moveTo>
                  <a:lnTo>
                    <a:pt x="6028697" y="6817170"/>
                  </a:lnTo>
                  <a:lnTo>
                    <a:pt x="5157862" y="6817170"/>
                  </a:lnTo>
                  <a:lnTo>
                    <a:pt x="5347156" y="6687553"/>
                  </a:lnTo>
                  <a:cubicBezTo>
                    <a:pt x="5394117" y="6653219"/>
                    <a:pt x="5440793" y="6617608"/>
                    <a:pt x="5487470" y="6581714"/>
                  </a:cubicBezTo>
                  <a:cubicBezTo>
                    <a:pt x="5534147" y="6545820"/>
                    <a:pt x="5580966" y="6509358"/>
                    <a:pt x="5627642" y="6472328"/>
                  </a:cubicBezTo>
                  <a:lnTo>
                    <a:pt x="5911392" y="6245328"/>
                  </a:lnTo>
                  <a:close/>
                  <a:moveTo>
                    <a:pt x="4481066" y="478"/>
                  </a:moveTo>
                  <a:cubicBezTo>
                    <a:pt x="4544817" y="1422"/>
                    <a:pt x="4608563" y="3769"/>
                    <a:pt x="4672258" y="7519"/>
                  </a:cubicBezTo>
                  <a:cubicBezTo>
                    <a:pt x="4927973" y="22364"/>
                    <a:pt x="5181687" y="61751"/>
                    <a:pt x="5429869" y="125134"/>
                  </a:cubicBezTo>
                  <a:cubicBezTo>
                    <a:pt x="5617090" y="173104"/>
                    <a:pt x="5799867" y="236595"/>
                    <a:pt x="5976319" y="314893"/>
                  </a:cubicBezTo>
                  <a:lnTo>
                    <a:pt x="6028697" y="339901"/>
                  </a:lnTo>
                  <a:lnTo>
                    <a:pt x="6028697" y="732458"/>
                  </a:lnTo>
                  <a:lnTo>
                    <a:pt x="5990985" y="712211"/>
                  </a:lnTo>
                  <a:cubicBezTo>
                    <a:pt x="5783917" y="609342"/>
                    <a:pt x="5566013" y="529876"/>
                    <a:pt x="5341339" y="475281"/>
                  </a:cubicBezTo>
                  <a:cubicBezTo>
                    <a:pt x="5115233" y="420503"/>
                    <a:pt x="4884375" y="387624"/>
                    <a:pt x="4651969" y="377104"/>
                  </a:cubicBezTo>
                  <a:cubicBezTo>
                    <a:pt x="4418713" y="365171"/>
                    <a:pt x="4184861" y="373670"/>
                    <a:pt x="3953093" y="402498"/>
                  </a:cubicBezTo>
                  <a:cubicBezTo>
                    <a:pt x="3721001" y="431832"/>
                    <a:pt x="3491675" y="480040"/>
                    <a:pt x="3267413" y="546643"/>
                  </a:cubicBezTo>
                  <a:cubicBezTo>
                    <a:pt x="2591323" y="750761"/>
                    <a:pt x="1967642" y="1099289"/>
                    <a:pt x="1439498" y="1568141"/>
                  </a:cubicBezTo>
                  <a:cubicBezTo>
                    <a:pt x="1265589" y="1725523"/>
                    <a:pt x="1105393" y="1897434"/>
                    <a:pt x="960671" y="2082013"/>
                  </a:cubicBezTo>
                  <a:cubicBezTo>
                    <a:pt x="815775" y="2266294"/>
                    <a:pt x="688923" y="2464081"/>
                    <a:pt x="581866" y="2672638"/>
                  </a:cubicBezTo>
                  <a:cubicBezTo>
                    <a:pt x="473765" y="2880669"/>
                    <a:pt x="387610" y="3099397"/>
                    <a:pt x="324789" y="3325262"/>
                  </a:cubicBezTo>
                  <a:cubicBezTo>
                    <a:pt x="262714" y="3552403"/>
                    <a:pt x="231223" y="3786822"/>
                    <a:pt x="231151" y="4022292"/>
                  </a:cubicBezTo>
                  <a:cubicBezTo>
                    <a:pt x="231413" y="4136912"/>
                    <a:pt x="244645" y="4251136"/>
                    <a:pt x="270592" y="4362792"/>
                  </a:cubicBezTo>
                  <a:cubicBezTo>
                    <a:pt x="297885" y="4472943"/>
                    <a:pt x="336983" y="4579833"/>
                    <a:pt x="387213" y="4681585"/>
                  </a:cubicBezTo>
                  <a:cubicBezTo>
                    <a:pt x="412042" y="4732517"/>
                    <a:pt x="439423" y="4782457"/>
                    <a:pt x="468507" y="4831546"/>
                  </a:cubicBezTo>
                  <a:cubicBezTo>
                    <a:pt x="497591" y="4880636"/>
                    <a:pt x="529230" y="4929015"/>
                    <a:pt x="561862" y="4976826"/>
                  </a:cubicBezTo>
                  <a:cubicBezTo>
                    <a:pt x="627975" y="5072166"/>
                    <a:pt x="701466" y="5164668"/>
                    <a:pt x="777511" y="5257597"/>
                  </a:cubicBezTo>
                  <a:cubicBezTo>
                    <a:pt x="853556" y="5350524"/>
                    <a:pt x="933574" y="5443594"/>
                    <a:pt x="1010895" y="5540494"/>
                  </a:cubicBezTo>
                  <a:cubicBezTo>
                    <a:pt x="1049957" y="5588732"/>
                    <a:pt x="1088642" y="5637963"/>
                    <a:pt x="1126948" y="5688186"/>
                  </a:cubicBezTo>
                  <a:lnTo>
                    <a:pt x="1182706" y="5760543"/>
                  </a:lnTo>
                  <a:cubicBezTo>
                    <a:pt x="1201007" y="5783669"/>
                    <a:pt x="1218458" y="5807503"/>
                    <a:pt x="1237327" y="5830060"/>
                  </a:cubicBezTo>
                  <a:cubicBezTo>
                    <a:pt x="1383714" y="6009916"/>
                    <a:pt x="1540413" y="6181116"/>
                    <a:pt x="1706649" y="6342797"/>
                  </a:cubicBezTo>
                  <a:cubicBezTo>
                    <a:pt x="1788084" y="6422531"/>
                    <a:pt x="1871265" y="6499427"/>
                    <a:pt x="1956207" y="6573484"/>
                  </a:cubicBezTo>
                  <a:cubicBezTo>
                    <a:pt x="2041332" y="6647402"/>
                    <a:pt x="2127733" y="6718907"/>
                    <a:pt x="2217681" y="6786297"/>
                  </a:cubicBezTo>
                  <a:lnTo>
                    <a:pt x="2260820" y="6817170"/>
                  </a:lnTo>
                  <a:lnTo>
                    <a:pt x="1429497" y="6817170"/>
                  </a:lnTo>
                  <a:lnTo>
                    <a:pt x="1327275" y="6713800"/>
                  </a:lnTo>
                  <a:cubicBezTo>
                    <a:pt x="1239186" y="6618984"/>
                    <a:pt x="1156797" y="6519019"/>
                    <a:pt x="1080556" y="6414443"/>
                  </a:cubicBezTo>
                  <a:cubicBezTo>
                    <a:pt x="1004653" y="6310734"/>
                    <a:pt x="932439" y="6205177"/>
                    <a:pt x="865189" y="6097496"/>
                  </a:cubicBezTo>
                  <a:cubicBezTo>
                    <a:pt x="847881" y="6070823"/>
                    <a:pt x="831565" y="6043725"/>
                    <a:pt x="814823" y="6016911"/>
                  </a:cubicBezTo>
                  <a:lnTo>
                    <a:pt x="766729" y="5938453"/>
                  </a:lnTo>
                  <a:cubicBezTo>
                    <a:pt x="735941" y="5887947"/>
                    <a:pt x="703878" y="5837581"/>
                    <a:pt x="671672" y="5786648"/>
                  </a:cubicBezTo>
                  <a:lnTo>
                    <a:pt x="474608" y="5474664"/>
                  </a:lnTo>
                  <a:cubicBezTo>
                    <a:pt x="408778" y="5368968"/>
                    <a:pt x="343516" y="5260008"/>
                    <a:pt x="282652" y="5146508"/>
                  </a:cubicBezTo>
                  <a:cubicBezTo>
                    <a:pt x="252290" y="5089759"/>
                    <a:pt x="223065" y="5032015"/>
                    <a:pt x="196108" y="4972712"/>
                  </a:cubicBezTo>
                  <a:cubicBezTo>
                    <a:pt x="169152" y="4913408"/>
                    <a:pt x="144607" y="4853111"/>
                    <a:pt x="122474" y="4791821"/>
                  </a:cubicBezTo>
                  <a:cubicBezTo>
                    <a:pt x="100342" y="4730532"/>
                    <a:pt x="81757" y="4666830"/>
                    <a:pt x="65724" y="4603129"/>
                  </a:cubicBezTo>
                  <a:cubicBezTo>
                    <a:pt x="58205" y="4571064"/>
                    <a:pt x="50828" y="4539143"/>
                    <a:pt x="44727" y="4506937"/>
                  </a:cubicBezTo>
                  <a:lnTo>
                    <a:pt x="35505" y="4458699"/>
                  </a:lnTo>
                  <a:lnTo>
                    <a:pt x="27845" y="4410320"/>
                  </a:lnTo>
                  <a:cubicBezTo>
                    <a:pt x="8635" y="4281881"/>
                    <a:pt x="-661" y="4152150"/>
                    <a:pt x="37" y="4022292"/>
                  </a:cubicBezTo>
                  <a:cubicBezTo>
                    <a:pt x="712" y="3768592"/>
                    <a:pt x="27094" y="3515615"/>
                    <a:pt x="78777" y="3267236"/>
                  </a:cubicBezTo>
                  <a:cubicBezTo>
                    <a:pt x="130048" y="3017876"/>
                    <a:pt x="209439" y="2775142"/>
                    <a:pt x="315424" y="2543673"/>
                  </a:cubicBezTo>
                  <a:cubicBezTo>
                    <a:pt x="528236" y="2081161"/>
                    <a:pt x="838234" y="1667312"/>
                    <a:pt x="1202710" y="1314895"/>
                  </a:cubicBezTo>
                  <a:cubicBezTo>
                    <a:pt x="1385514" y="1138814"/>
                    <a:pt x="1582282" y="977831"/>
                    <a:pt x="1791065" y="833514"/>
                  </a:cubicBezTo>
                  <a:cubicBezTo>
                    <a:pt x="2420037" y="395614"/>
                    <a:pt x="3147288" y="119557"/>
                    <a:pt x="3908404" y="29794"/>
                  </a:cubicBezTo>
                  <a:cubicBezTo>
                    <a:pt x="4098509" y="7429"/>
                    <a:pt x="4289811" y="-2355"/>
                    <a:pt x="4481066" y="478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C72F6EE6-EDE9-45A5-8F6D-02B9B7CB2C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1"/>
              <a:ext cx="6165116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C093DC50-3BD7-46B1-A300-CD207E152F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-5977"/>
              <a:ext cx="6238675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4230327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1210</TotalTime>
  <Words>824</Words>
  <Application>Microsoft Office PowerPoint</Application>
  <PresentationFormat>Widescreen</PresentationFormat>
  <Paragraphs>200</Paragraphs>
  <Slides>19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4" baseType="lpstr">
      <vt:lpstr>Aptos</vt:lpstr>
      <vt:lpstr>Arial</vt:lpstr>
      <vt:lpstr>Calibri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Himanshu Kumar</cp:lastModifiedBy>
  <cp:revision>46</cp:revision>
  <dcterms:created xsi:type="dcterms:W3CDTF">2013-01-27T09:14:16Z</dcterms:created>
  <dcterms:modified xsi:type="dcterms:W3CDTF">2026-02-16T16:20:17Z</dcterms:modified>
  <cp:category/>
</cp:coreProperties>
</file>